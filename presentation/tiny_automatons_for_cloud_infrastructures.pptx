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DM Sans"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idea is to borrow the discipline of 18th-century automatons, machines that do one thing reliably, and apply it to our AWS infrastructure with very small models. Everything in this deck is a proposal to discuss, not a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inspiration has two parts: the 18th-century automatons that did one thing reliably, and a recent GitHub repo that runs Whisper-based speech-to-text on an ESP32. Both show that very small, narrow machines can be useful. The goal is the same smallness inside our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current tooling works and stays. The gaps are things a single dashboard rarely shows: a chain of causes across accounts, configuration that quietly drifts from what we intended, knowledge that only a few people carry, and changes that cause trouble without raising an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from all accounts flow through EventBridge and an SQS buffer to four small specialists. Each produces a score or verdict. A simple aggregator watches for several lighting up at once, and only then does a bigger model write the story. A human stays in the loop for any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order-of-magnitude numbers, not benchmarks. The point is that every specialist fits in a few megabytes and answers in milliseconds, so running a whole swarm costs very little. We would confirm real numbers with a prototype on our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automaton is its own Lambda function. The only real risk is a cold start when events are rare, but at these model sizes a cold start stays well under a second. The small LLM is kept separate and only runs when several specialists agree something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security gain is what the automaton does not have: no listening endpoint, no write permissions and no free-text input to hijack. Compare this with an agent that can call tools or open pull requests, which needs careful guardrails. The caveat matters: numeric inputs can still be gamed by someone shaping traffic on purpose, which is why scores only advise and a human approves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repeat the earlier estimates and are not benchmarks. The point is the shape of the system: every automaton is small, isolated and independently replaceable, so a bad one can be switched off without touching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“Today” column comes from reading our own repositories: the ALB filehandler, the deployment markers service and the WAF module. The point is that these checks are repetitive attention work, not hard decisions. An automaton is good at watching one signal forever, and people are better used on the cases it surfaces.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Including the downsides makes the case stronger. None of these is a reason not to try; each one is the reason the roadmap starts in observe-only mode and keeps a person in the loop. Complexity moves rather than disappears: the cost of rules is replaced by the cost of owning training data and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idea reaches beyond our AWS accounts. Whenever a task is narrow, the data is sensitive or the connection is unreliable, a small on-device or in-network model can beat a call to a big hosted one. These are directions to explore, not commitments, and each would need its own evaluation of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IP blacklist module has one commit and no entries, so rate limits are the real lever. The CloudFront WAF logs already go through Firehose to S3 in us-east-1 and can be queried with Athena. The math may be plain percentiles; a model is optional and would only matter for separating bots from busy shoppers.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Settings">    </p:cNvPr>
          <p:cNvPicPr>
            <a:picLocks noChangeAspect="1"/>
          </p:cNvPicPr>
          <p:nvPr/>
        </p:nvPicPr>
        <p:blipFill>
          <a:blip r:embed="rId1"/>
          <a:srcRect l="0" r="0" t="0" b="0"/>
          <a:stretch/>
        </p:blipFill>
        <p:spPr>
          <a:xfrm>
            <a:off x="10261600" y="812800"/>
            <a:ext cx="1117600" cy="1117600"/>
          </a:xfrm>
          <a:prstGeom prst="rect">
            <a:avLst/>
          </a:prstGeom>
        </p:spPr>
      </p:pic>
      <p:sp>
        <p:nvSpPr>
          <p:cNvPr id="3" name="Text 0"/>
          <p:cNvSpPr/>
          <p:nvPr/>
        </p:nvSpPr>
        <p:spPr>
          <a:xfrm>
            <a:off x="812800" y="812800"/>
            <a:ext cx="2475359" cy="365720"/>
          </a:xfrm>
          <a:prstGeom prst="roundRect">
            <a:avLst>
              <a:gd name="adj" fmla="val 50000"/>
            </a:avLst>
          </a:prstGeom>
          <a:solidFill>
            <a:srgbClr val="F5C534"/>
          </a:solidFill>
          <a:ln/>
        </p:spPr>
        <p:txBody>
          <a:bodyPr wrap="none" lIns="0" tIns="0" rIns="0" bIns="0" rtlCol="0" anchor="ctr">
            <a:normAutofit/>
          </a:bodyPr>
          <a:lstStyle/>
          <a:p>
            <a:pPr algn="ctr" indent="0" marL="0">
              <a:lnSpc>
                <a:spcPts val="1680"/>
              </a:lnSpc>
              <a:buNone/>
            </a:pPr>
            <a:r>
              <a:rPr lang="en-US" sz="1200" b="1" spc="150" kern="0" dirty="0">
                <a:solidFill>
                  <a:srgbClr val="14213D"/>
                </a:solidFill>
                <a:latin typeface="DM Sans" pitchFamily="34" charset="0"/>
                <a:ea typeface="DM Sans" pitchFamily="34" charset="-122"/>
                <a:cs typeface="DM Sans" pitchFamily="34" charset="-120"/>
              </a:rPr>
              <a:t>DISCUSSION PROPOSAL</a:t>
            </a:r>
            <a:endParaRPr lang="en-US" sz="1200" dirty="0"/>
          </a:p>
        </p:txBody>
      </p:sp>
      <p:sp>
        <p:nvSpPr>
          <p:cNvPr id="4" name="Text 1"/>
          <p:cNvSpPr/>
          <p:nvPr>
            <p:ph type="title"/>
          </p:nvPr>
        </p:nvSpPr>
        <p:spPr>
          <a:xfrm>
            <a:off x="812800" y="32893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BF8F1"/>
                </a:solidFill>
                <a:latin typeface="DM Sans" pitchFamily="34" charset="0"/>
                <a:ea typeface="DM Sans" pitchFamily="34" charset="-122"/>
                <a:cs typeface="DM Sans" pitchFamily="34" charset="-120"/>
              </a:rPr>
              <a:t>Tiny automatons for a living infrastructure</a:t>
            </a:r>
            <a:endParaRPr lang="en-US" sz="6000" dirty="0"/>
          </a:p>
        </p:txBody>
      </p:sp>
      <p:sp>
        <p:nvSpPr>
          <p:cNvPr id="5" name="Text 2"/>
          <p:cNvSpPr/>
          <p:nvPr/>
        </p:nvSpPr>
        <p:spPr>
          <a:xfrm>
            <a:off x="812800" y="5143500"/>
            <a:ext cx="10883392"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BFE6E1"/>
                </a:solidFill>
                <a:latin typeface="DM Sans" pitchFamily="34" charset="0"/>
                <a:ea typeface="DM Sans" pitchFamily="34" charset="-122"/>
                <a:cs typeface="DM Sans" pitchFamily="34" charset="-120"/>
              </a:rPr>
              <a:t>Single-purpose micro-models that each watch one thing across a multi-account infrastructure</a:t>
            </a:r>
            <a:endParaRPr lang="en-US" sz="22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8CC"/>
                </a:solidFill>
                <a:latin typeface="DM Sans" pitchFamily="34" charset="0"/>
                <a:ea typeface="DM Sans" pitchFamily="34" charset="-122"/>
                <a:cs typeface="DM Sans" pitchFamily="34" charset="-120"/>
              </a:rPr>
              <a:t>27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Small machines, one trick each</a:t>
            </a:r>
            <a:endParaRPr lang="en-US" sz="3600" dirty="0"/>
          </a:p>
        </p:txBody>
      </p:sp>
      <p:sp>
        <p:nvSpPr>
          <p:cNvPr id="3" name="Text 1"/>
          <p:cNvSpPr/>
          <p:nvPr/>
        </p:nvSpPr>
        <p:spPr>
          <a:xfrm>
            <a:off x="812800" y="156969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C4659"/>
                </a:solidFill>
                <a:latin typeface="DM Sans" pitchFamily="34" charset="0"/>
                <a:ea typeface="DM Sans" pitchFamily="34" charset="-122"/>
                <a:cs typeface="DM Sans" pitchFamily="34" charset="-120"/>
              </a:rPr>
              <a:t>Jaquet-Droz’s writing boy and Vaucanson’s duck each did one thing, mechanically and reliably. We want infrastructure helpers with the same discipline.</a:t>
            </a:r>
            <a:endParaRPr lang="en-US" sz="1600" dirty="0"/>
          </a:p>
        </p:txBody>
      </p:sp>
      <p:sp>
        <p:nvSpPr>
          <p:cNvPr id="4" name="Shape 2"/>
          <p:cNvSpPr/>
          <p:nvPr/>
        </p:nvSpPr>
        <p:spPr>
          <a:xfrm>
            <a:off x="812800" y="2392611"/>
            <a:ext cx="3386634" cy="2420441"/>
          </a:xfrm>
          <a:prstGeom prst="roundRect">
            <a:avLst>
              <a:gd name="adj" fmla="val 6296"/>
            </a:avLst>
          </a:prstGeom>
          <a:solidFill>
            <a:srgbClr val="F1EADB"/>
          </a:solidFill>
          <a:ln/>
        </p:spPr>
      </p:sp>
      <p:sp>
        <p:nvSpPr>
          <p:cNvPr id="5" name="Text 3"/>
          <p:cNvSpPr/>
          <p:nvPr/>
        </p:nvSpPr>
        <p:spPr>
          <a:xfrm>
            <a:off x="1066800" y="2646611"/>
            <a:ext cx="29649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C4659"/>
                </a:solidFill>
                <a:latin typeface="DM Sans" pitchFamily="34" charset="0"/>
                <a:ea typeface="DM Sans" pitchFamily="34" charset="-122"/>
                <a:cs typeface="DM Sans" pitchFamily="34" charset="-120"/>
              </a:rPr>
              <a:t>1700S</a:t>
            </a:r>
            <a:endParaRPr lang="en-US" sz="1200" dirty="0"/>
          </a:p>
        </p:txBody>
      </p:sp>
      <p:sp>
        <p:nvSpPr>
          <p:cNvPr id="6" name="Text 4"/>
          <p:cNvSpPr/>
          <p:nvPr/>
        </p:nvSpPr>
        <p:spPr>
          <a:xfrm>
            <a:off x="1066800" y="2961531"/>
            <a:ext cx="2964993" cy="66794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DM Sans" pitchFamily="34" charset="0"/>
                <a:ea typeface="DM Sans" pitchFamily="34" charset="-122"/>
                <a:cs typeface="DM Sans" pitchFamily="34" charset="-120"/>
              </a:rPr>
              <a:t>Clockwork automatons</a:t>
            </a:r>
            <a:endParaRPr lang="en-US" sz="2200" dirty="0"/>
          </a:p>
        </p:txBody>
      </p:sp>
      <p:sp>
        <p:nvSpPr>
          <p:cNvPr id="7" name="Text 5"/>
          <p:cNvSpPr/>
          <p:nvPr/>
        </p:nvSpPr>
        <p:spPr>
          <a:xfrm>
            <a:off x="1066800" y="3705671"/>
            <a:ext cx="2964993"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Gears and cams, one repeatable motion each. Lifelike, but never improvising.</a:t>
            </a:r>
            <a:endParaRPr lang="en-US" sz="1600" dirty="0"/>
          </a:p>
        </p:txBody>
      </p:sp>
      <p:sp>
        <p:nvSpPr>
          <p:cNvPr id="8" name="Shape 6"/>
          <p:cNvSpPr/>
          <p:nvPr/>
        </p:nvSpPr>
        <p:spPr>
          <a:xfrm>
            <a:off x="4402634" y="2392611"/>
            <a:ext cx="3386683" cy="2420441"/>
          </a:xfrm>
          <a:prstGeom prst="roundRect">
            <a:avLst>
              <a:gd name="adj" fmla="val 6296"/>
            </a:avLst>
          </a:prstGeom>
          <a:solidFill>
            <a:srgbClr val="BFE6E1"/>
          </a:solidFill>
          <a:ln/>
        </p:spPr>
      </p:sp>
      <p:sp>
        <p:nvSpPr>
          <p:cNvPr id="9" name="Text 7"/>
          <p:cNvSpPr/>
          <p:nvPr/>
        </p:nvSpPr>
        <p:spPr>
          <a:xfrm>
            <a:off x="4656634" y="2646611"/>
            <a:ext cx="29650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C4659"/>
                </a:solidFill>
                <a:latin typeface="DM Sans" pitchFamily="34" charset="0"/>
                <a:ea typeface="DM Sans" pitchFamily="34" charset="-122"/>
                <a:cs typeface="DM Sans" pitchFamily="34" charset="-120"/>
              </a:rPr>
              <a:t>TODAY</a:t>
            </a:r>
            <a:endParaRPr lang="en-US" sz="1200" dirty="0"/>
          </a:p>
        </p:txBody>
      </p:sp>
      <p:sp>
        <p:nvSpPr>
          <p:cNvPr id="10" name="Text 8"/>
          <p:cNvSpPr/>
          <p:nvPr/>
        </p:nvSpPr>
        <p:spPr>
          <a:xfrm>
            <a:off x="4656634" y="2961531"/>
            <a:ext cx="2965044"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DM Sans" pitchFamily="34" charset="0"/>
                <a:ea typeface="DM Sans" pitchFamily="34" charset="-122"/>
                <a:cs typeface="DM Sans" pitchFamily="34" charset="-120"/>
              </a:rPr>
              <a:t>Whistle on an ESP32</a:t>
            </a:r>
            <a:endParaRPr lang="en-US" sz="2200" dirty="0"/>
          </a:p>
        </p:txBody>
      </p:sp>
      <p:sp>
        <p:nvSpPr>
          <p:cNvPr id="11" name="Text 9"/>
          <p:cNvSpPr/>
          <p:nvPr/>
        </p:nvSpPr>
        <p:spPr>
          <a:xfrm>
            <a:off x="4656634" y="3384401"/>
            <a:ext cx="296504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A speech-to-text repo running on a microcontroller. One job, tiny hardware.</a:t>
            </a:r>
            <a:endParaRPr lang="en-US" sz="1600" dirty="0"/>
          </a:p>
        </p:txBody>
      </p:sp>
      <p:sp>
        <p:nvSpPr>
          <p:cNvPr id="12" name="Shape 10"/>
          <p:cNvSpPr/>
          <p:nvPr/>
        </p:nvSpPr>
        <p:spPr>
          <a:xfrm>
            <a:off x="7992517" y="2392611"/>
            <a:ext cx="3386683" cy="2420441"/>
          </a:xfrm>
          <a:prstGeom prst="roundRect">
            <a:avLst>
              <a:gd name="adj" fmla="val 6296"/>
            </a:avLst>
          </a:prstGeom>
          <a:solidFill>
            <a:srgbClr val="F5C534"/>
          </a:solidFill>
          <a:ln/>
        </p:spPr>
      </p:sp>
      <p:sp>
        <p:nvSpPr>
          <p:cNvPr id="13" name="Text 11"/>
          <p:cNvSpPr/>
          <p:nvPr/>
        </p:nvSpPr>
        <p:spPr>
          <a:xfrm>
            <a:off x="8246517" y="2646611"/>
            <a:ext cx="29650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DM Sans" pitchFamily="34" charset="0"/>
                <a:ea typeface="DM Sans" pitchFamily="34" charset="-122"/>
                <a:cs typeface="DM Sans" pitchFamily="34" charset="-120"/>
              </a:rPr>
              <a:t>OUR TURN</a:t>
            </a:r>
            <a:endParaRPr lang="en-US" sz="1200" dirty="0"/>
          </a:p>
        </p:txBody>
      </p:sp>
      <p:sp>
        <p:nvSpPr>
          <p:cNvPr id="14" name="Text 12"/>
          <p:cNvSpPr/>
          <p:nvPr/>
        </p:nvSpPr>
        <p:spPr>
          <a:xfrm>
            <a:off x="8246517" y="2961531"/>
            <a:ext cx="2965044" cy="667941"/>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DM Sans" pitchFamily="34" charset="0"/>
                <a:ea typeface="DM Sans" pitchFamily="34" charset="-122"/>
                <a:cs typeface="DM Sans" pitchFamily="34" charset="-120"/>
              </a:rPr>
              <a:t>Micro-models in a cloud infrastructure</a:t>
            </a:r>
            <a:endParaRPr lang="en-US" sz="2200" dirty="0"/>
          </a:p>
        </p:txBody>
      </p:sp>
      <p:sp>
        <p:nvSpPr>
          <p:cNvPr id="15" name="Text 13"/>
          <p:cNvSpPr/>
          <p:nvPr/>
        </p:nvSpPr>
        <p:spPr>
          <a:xfrm>
            <a:off x="8246517" y="3705671"/>
            <a:ext cx="296504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Megabyte-sized models in Lambda or a container, each watching one pattern.</a:t>
            </a:r>
            <a:endParaRPr lang="en-US" sz="16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Tiny automatons for cloud infrastructures</a:t>
            </a:r>
            <a:endParaRPr lang="en-US" sz="1200" dirty="0"/>
          </a:p>
        </p:txBody>
      </p:sp>
      <p:sp>
        <p:nvSpPr>
          <p:cNvPr id="17" name="Text 15"/>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Gaps that monitoring leaves open</a:t>
            </a:r>
            <a:endParaRPr lang="en-US" sz="3600" dirty="0"/>
          </a:p>
        </p:txBody>
      </p:sp>
      <p:sp>
        <p:nvSpPr>
          <p:cNvPr id="3" name="Shape 1"/>
          <p:cNvSpPr/>
          <p:nvPr/>
        </p:nvSpPr>
        <p:spPr>
          <a:xfrm>
            <a:off x="812800" y="1569690"/>
            <a:ext cx="5181600" cy="1457920"/>
          </a:xfrm>
          <a:prstGeom prst="roundRect">
            <a:avLst>
              <a:gd name="adj" fmla="val 10453"/>
            </a:avLst>
          </a:prstGeom>
          <a:solidFill>
            <a:srgbClr val="BFE6E1"/>
          </a:solidFill>
          <a:ln/>
        </p:spPr>
      </p:sp>
      <p:pic>
        <p:nvPicPr>
          <p:cNvPr id="4" name="Image 0" descr="Link">    </p:cNvPr>
          <p:cNvPicPr>
            <a:picLocks noChangeAspect="1"/>
          </p:cNvPicPr>
          <p:nvPr/>
        </p:nvPicPr>
        <p:blipFill>
          <a:blip r:embed="rId1"/>
          <a:srcRect l="0" r="0" t="0" b="0"/>
          <a:stretch/>
        </p:blipFill>
        <p:spPr>
          <a:xfrm>
            <a:off x="1041400" y="1798290"/>
            <a:ext cx="355600" cy="355600"/>
          </a:xfrm>
          <a:prstGeom prst="rect">
            <a:avLst/>
          </a:prstGeom>
        </p:spPr>
      </p:pic>
      <p:sp>
        <p:nvSpPr>
          <p:cNvPr id="5" name="Text 2"/>
          <p:cNvSpPr/>
          <p:nvPr/>
        </p:nvSpPr>
        <p:spPr>
          <a:xfrm>
            <a:off x="1524000" y="1815455"/>
            <a:ext cx="338351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DM Sans" pitchFamily="34" charset="0"/>
                <a:ea typeface="DM Sans" pitchFamily="34" charset="-122"/>
                <a:cs typeface="DM Sans" pitchFamily="34" charset="-120"/>
              </a:rPr>
              <a:t>Connecting the dots</a:t>
            </a:r>
            <a:endParaRPr lang="en-US" sz="2200" dirty="0"/>
          </a:p>
        </p:txBody>
      </p:sp>
      <p:sp>
        <p:nvSpPr>
          <p:cNvPr id="6" name="Text 3"/>
          <p:cNvSpPr/>
          <p:nvPr/>
        </p:nvSpPr>
        <p:spPr>
          <a:xfrm>
            <a:off x="1041400" y="2230090"/>
            <a:ext cx="486613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Five alerts fire; the root cause hides in another account.</a:t>
            </a:r>
            <a:endParaRPr lang="en-US" sz="1600" dirty="0"/>
          </a:p>
        </p:txBody>
      </p:sp>
      <p:sp>
        <p:nvSpPr>
          <p:cNvPr id="7" name="Shape 4"/>
          <p:cNvSpPr/>
          <p:nvPr/>
        </p:nvSpPr>
        <p:spPr>
          <a:xfrm>
            <a:off x="6197600" y="1569690"/>
            <a:ext cx="5181600" cy="1457920"/>
          </a:xfrm>
          <a:prstGeom prst="roundRect">
            <a:avLst>
              <a:gd name="adj" fmla="val 10453"/>
            </a:avLst>
          </a:prstGeom>
          <a:solidFill>
            <a:srgbClr val="BFE6E1"/>
          </a:solidFill>
          <a:ln/>
        </p:spPr>
      </p:sp>
      <p:pic>
        <p:nvPicPr>
          <p:cNvPr id="8" name="Image 1" descr="Lock">    </p:cNvPr>
          <p:cNvPicPr>
            <a:picLocks noChangeAspect="1"/>
          </p:cNvPicPr>
          <p:nvPr/>
        </p:nvPicPr>
        <p:blipFill>
          <a:blip r:embed="rId2"/>
          <a:srcRect l="0" r="0" t="0" b="0"/>
          <a:stretch/>
        </p:blipFill>
        <p:spPr>
          <a:xfrm>
            <a:off x="6426200" y="1798290"/>
            <a:ext cx="355600" cy="355600"/>
          </a:xfrm>
          <a:prstGeom prst="rect">
            <a:avLst/>
          </a:prstGeom>
        </p:spPr>
      </p:pic>
      <p:sp>
        <p:nvSpPr>
          <p:cNvPr id="9" name="Text 5"/>
          <p:cNvSpPr/>
          <p:nvPr/>
        </p:nvSpPr>
        <p:spPr>
          <a:xfrm>
            <a:off x="6908800" y="1815455"/>
            <a:ext cx="26826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DM Sans" pitchFamily="34" charset="0"/>
                <a:ea typeface="DM Sans" pitchFamily="34" charset="-122"/>
                <a:cs typeface="DM Sans" pitchFamily="34" charset="-120"/>
              </a:rPr>
              <a:t>Drift from intent</a:t>
            </a:r>
            <a:endParaRPr lang="en-US" sz="2200" dirty="0"/>
          </a:p>
        </p:txBody>
      </p:sp>
      <p:sp>
        <p:nvSpPr>
          <p:cNvPr id="10" name="Text 6"/>
          <p:cNvSpPr/>
          <p:nvPr/>
        </p:nvSpPr>
        <p:spPr>
          <a:xfrm>
            <a:off x="6426200" y="2230090"/>
            <a:ext cx="486613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A security group slowly widens. A role gains permissions nobody remembers.</a:t>
            </a:r>
            <a:endParaRPr lang="en-US" sz="1600" dirty="0"/>
          </a:p>
        </p:txBody>
      </p:sp>
      <p:sp>
        <p:nvSpPr>
          <p:cNvPr id="11" name="Shape 7"/>
          <p:cNvSpPr/>
          <p:nvPr/>
        </p:nvSpPr>
        <p:spPr>
          <a:xfrm>
            <a:off x="812800" y="3230811"/>
            <a:ext cx="5181600" cy="1457920"/>
          </a:xfrm>
          <a:prstGeom prst="roundRect">
            <a:avLst>
              <a:gd name="adj" fmla="val 10453"/>
            </a:avLst>
          </a:prstGeom>
          <a:solidFill>
            <a:srgbClr val="BFE6E1"/>
          </a:solidFill>
          <a:ln/>
        </p:spPr>
      </p:sp>
      <p:pic>
        <p:nvPicPr>
          <p:cNvPr id="12" name="Image 2" descr="Lightbulb">    </p:cNvPr>
          <p:cNvPicPr>
            <a:picLocks noChangeAspect="1"/>
          </p:cNvPicPr>
          <p:nvPr/>
        </p:nvPicPr>
        <p:blipFill>
          <a:blip r:embed="rId3"/>
          <a:srcRect l="0" r="0" t="0" b="0"/>
          <a:stretch/>
        </p:blipFill>
        <p:spPr>
          <a:xfrm>
            <a:off x="1041400" y="3459411"/>
            <a:ext cx="355600" cy="355600"/>
          </a:xfrm>
          <a:prstGeom prst="rect">
            <a:avLst/>
          </a:prstGeom>
        </p:spPr>
      </p:pic>
      <p:sp>
        <p:nvSpPr>
          <p:cNvPr id="13" name="Text 8"/>
          <p:cNvSpPr/>
          <p:nvPr/>
        </p:nvSpPr>
        <p:spPr>
          <a:xfrm>
            <a:off x="1524000" y="3476575"/>
            <a:ext cx="2797016"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DM Sans" pitchFamily="34" charset="0"/>
                <a:ea typeface="DM Sans" pitchFamily="34" charset="-122"/>
                <a:cs typeface="DM Sans" pitchFamily="34" charset="-120"/>
              </a:rPr>
              <a:t>Tribal knowledge</a:t>
            </a:r>
            <a:endParaRPr lang="en-US" sz="2200" dirty="0"/>
          </a:p>
        </p:txBody>
      </p:sp>
      <p:sp>
        <p:nvSpPr>
          <p:cNvPr id="14" name="Text 9"/>
          <p:cNvSpPr/>
          <p:nvPr/>
        </p:nvSpPr>
        <p:spPr>
          <a:xfrm>
            <a:off x="1041400" y="3891211"/>
            <a:ext cx="486613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Lessons from past incidents live in a few heads, not in tools.</a:t>
            </a:r>
            <a:endParaRPr lang="en-US" sz="1600" dirty="0"/>
          </a:p>
        </p:txBody>
      </p:sp>
      <p:sp>
        <p:nvSpPr>
          <p:cNvPr id="15" name="Shape 10"/>
          <p:cNvSpPr/>
          <p:nvPr/>
        </p:nvSpPr>
        <p:spPr>
          <a:xfrm>
            <a:off x="6197600" y="3230811"/>
            <a:ext cx="5181600" cy="1457920"/>
          </a:xfrm>
          <a:prstGeom prst="roundRect">
            <a:avLst>
              <a:gd name="adj" fmla="val 10453"/>
            </a:avLst>
          </a:prstGeom>
          <a:solidFill>
            <a:srgbClr val="BFE6E1"/>
          </a:solidFill>
          <a:ln/>
        </p:spPr>
      </p:sp>
      <p:pic>
        <p:nvPicPr>
          <p:cNvPr id="16" name="Image 3" descr="Clock">    </p:cNvPr>
          <p:cNvPicPr>
            <a:picLocks noChangeAspect="1"/>
          </p:cNvPicPr>
          <p:nvPr/>
        </p:nvPicPr>
        <p:blipFill>
          <a:blip r:embed="rId4"/>
          <a:srcRect l="0" r="0" t="0" b="0"/>
          <a:stretch/>
        </p:blipFill>
        <p:spPr>
          <a:xfrm>
            <a:off x="6426200" y="3459411"/>
            <a:ext cx="355600" cy="355600"/>
          </a:xfrm>
          <a:prstGeom prst="rect">
            <a:avLst/>
          </a:prstGeom>
        </p:spPr>
      </p:pic>
      <p:sp>
        <p:nvSpPr>
          <p:cNvPr id="17" name="Text 11"/>
          <p:cNvSpPr/>
          <p:nvPr/>
        </p:nvSpPr>
        <p:spPr>
          <a:xfrm>
            <a:off x="6908800" y="3476575"/>
            <a:ext cx="3109139"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DM Sans" pitchFamily="34" charset="0"/>
                <a:ea typeface="DM Sans" pitchFamily="34" charset="-122"/>
                <a:cs typeface="DM Sans" pitchFamily="34" charset="-120"/>
              </a:rPr>
              <a:t>Change awareness</a:t>
            </a:r>
            <a:endParaRPr lang="en-US" sz="2200" dirty="0"/>
          </a:p>
        </p:txBody>
      </p:sp>
      <p:sp>
        <p:nvSpPr>
          <p:cNvPr id="18" name="Text 12"/>
          <p:cNvSpPr/>
          <p:nvPr/>
        </p:nvSpPr>
        <p:spPr>
          <a:xfrm>
            <a:off x="6426200" y="3891211"/>
            <a:ext cx="486613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DM Sans" pitchFamily="34" charset="0"/>
                <a:ea typeface="DM Sans" pitchFamily="34" charset="-122"/>
                <a:cs typeface="DM Sans" pitchFamily="34" charset="-120"/>
              </a:rPr>
              <a:t>Something turns odd right after a deploy, though no alert fired.</a:t>
            </a:r>
            <a:endParaRPr lang="en-US" sz="1600" dirty="0"/>
          </a:p>
        </p:txBody>
      </p:sp>
      <p:sp>
        <p:nvSpPr>
          <p:cNvPr id="19" name="Shape 13"/>
          <p:cNvSpPr/>
          <p:nvPr/>
        </p:nvSpPr>
        <p:spPr>
          <a:xfrm>
            <a:off x="812800" y="4942731"/>
            <a:ext cx="10566400" cy="812800"/>
          </a:xfrm>
          <a:prstGeom prst="roundRect">
            <a:avLst>
              <a:gd name="adj" fmla="val 18750"/>
            </a:avLst>
          </a:prstGeom>
          <a:solidFill>
            <a:srgbClr val="FBEFC4"/>
          </a:solidFill>
          <a:ln/>
        </p:spPr>
      </p:sp>
      <p:pic>
        <p:nvPicPr>
          <p:cNvPr id="20" name="Image 4" descr="CheckCircle">    </p:cNvPr>
          <p:cNvPicPr>
            <a:picLocks noChangeAspect="1"/>
          </p:cNvPicPr>
          <p:nvPr/>
        </p:nvPicPr>
        <p:blipFill>
          <a:blip r:embed="rId5"/>
          <a:srcRect l="0" r="0" t="0" b="0"/>
          <a:stretch/>
        </p:blipFill>
        <p:spPr>
          <a:xfrm>
            <a:off x="1066800" y="5145931"/>
            <a:ext cx="406400" cy="406400"/>
          </a:xfrm>
          <a:prstGeom prst="rect">
            <a:avLst/>
          </a:prstGeom>
        </p:spPr>
      </p:pic>
      <p:sp>
        <p:nvSpPr>
          <p:cNvPr id="21" name="Text 14"/>
          <p:cNvSpPr/>
          <p:nvPr/>
        </p:nvSpPr>
        <p:spPr>
          <a:xfrm>
            <a:off x="1625600" y="5217071"/>
            <a:ext cx="9015948"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13D"/>
                </a:solidFill>
                <a:latin typeface="DM Sans" pitchFamily="34" charset="0"/>
                <a:ea typeface="DM Sans" pitchFamily="34" charset="-122"/>
                <a:cs typeface="DM Sans" pitchFamily="34" charset="-120"/>
              </a:rPr>
              <a:t>Complements existing alerts, logs and monitoring. It does not replace them.</a:t>
            </a:r>
            <a:endParaRPr lang="en-US" sz="1600" dirty="0"/>
          </a:p>
        </p:txBody>
      </p:sp>
      <p:sp>
        <p:nvSpPr>
          <p:cNvPr id="22"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Tiny automatons for cloud infrastructures</a:t>
            </a:r>
            <a:endParaRPr lang="en-US" sz="1200" dirty="0"/>
          </a:p>
        </p:txBody>
      </p:sp>
      <p:sp>
        <p:nvSpPr>
          <p:cNvPr id="23" name="Text 16"/>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A swarm of small specialists</a:t>
            </a:r>
            <a:endParaRPr lang="en-US" sz="3600" dirty="0"/>
          </a:p>
        </p:txBody>
      </p:sp>
      <p:sp>
        <p:nvSpPr>
          <p:cNvPr id="3" name="Shape 1"/>
          <p:cNvSpPr/>
          <p:nvPr/>
        </p:nvSpPr>
        <p:spPr>
          <a:xfrm>
            <a:off x="812800" y="1569690"/>
            <a:ext cx="2032000" cy="3840212"/>
          </a:xfrm>
          <a:prstGeom prst="roundRect">
            <a:avLst>
              <a:gd name="adj" fmla="val 7500"/>
            </a:avLst>
          </a:prstGeom>
          <a:solidFill>
            <a:srgbClr val="E1EAF7"/>
          </a:solidFill>
          <a:ln/>
        </p:spPr>
      </p:sp>
      <p:sp>
        <p:nvSpPr>
          <p:cNvPr id="4" name="Text 2"/>
          <p:cNvSpPr/>
          <p:nvPr/>
        </p:nvSpPr>
        <p:spPr>
          <a:xfrm>
            <a:off x="990600" y="2583160"/>
            <a:ext cx="17272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AWS events</a:t>
            </a:r>
            <a:endParaRPr lang="en-US" sz="1600" dirty="0"/>
          </a:p>
        </p:txBody>
      </p:sp>
      <p:sp>
        <p:nvSpPr>
          <p:cNvPr id="5" name="Text 3"/>
          <p:cNvSpPr/>
          <p:nvPr/>
        </p:nvSpPr>
        <p:spPr>
          <a:xfrm>
            <a:off x="990600" y="2903190"/>
            <a:ext cx="1727200" cy="15186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Lambda, ECS, RDS, queues, DNS, CloudFront, firewalls and CloudTrail across every account, buffered through EventBridge and SQS.</a:t>
            </a:r>
            <a:endParaRPr lang="en-US" sz="1200" dirty="0"/>
          </a:p>
        </p:txBody>
      </p:sp>
      <p:pic>
        <p:nvPicPr>
          <p:cNvPr id="6" name="Image 0" descr="arrow-right">    </p:cNvPr>
          <p:cNvPicPr>
            <a:picLocks noChangeAspect="1"/>
          </p:cNvPicPr>
          <p:nvPr/>
        </p:nvPicPr>
        <p:blipFill>
          <a:blip r:embed="rId1"/>
          <a:srcRect l="0" r="0" t="0" b="0"/>
          <a:stretch/>
        </p:blipFill>
        <p:spPr>
          <a:xfrm>
            <a:off x="2971800" y="3362771"/>
            <a:ext cx="355600" cy="254000"/>
          </a:xfrm>
          <a:prstGeom prst="rect">
            <a:avLst/>
          </a:prstGeom>
        </p:spPr>
      </p:pic>
      <p:sp>
        <p:nvSpPr>
          <p:cNvPr id="7" name="Shape 4"/>
          <p:cNvSpPr/>
          <p:nvPr/>
        </p:nvSpPr>
        <p:spPr>
          <a:xfrm>
            <a:off x="3454400" y="1569690"/>
            <a:ext cx="2095500" cy="1749921"/>
          </a:xfrm>
          <a:prstGeom prst="roundRect">
            <a:avLst>
              <a:gd name="adj" fmla="val 7257"/>
            </a:avLst>
          </a:prstGeom>
          <a:solidFill>
            <a:srgbClr val="BFE6E1"/>
          </a:solidFill>
          <a:ln/>
        </p:spPr>
      </p:sp>
      <p:sp>
        <p:nvSpPr>
          <p:cNvPr id="8" name="Text 5"/>
          <p:cNvSpPr/>
          <p:nvPr/>
        </p:nvSpPr>
        <p:spPr>
          <a:xfrm>
            <a:off x="3606800" y="1722090"/>
            <a:ext cx="184442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Rhythm watcher</a:t>
            </a:r>
            <a:endParaRPr lang="en-US" sz="1600" dirty="0"/>
          </a:p>
        </p:txBody>
      </p:sp>
      <p:sp>
        <p:nvSpPr>
          <p:cNvPr id="9" name="Text 6"/>
          <p:cNvSpPr/>
          <p:nvPr/>
        </p:nvSpPr>
        <p:spPr>
          <a:xfrm>
            <a:off x="3606800" y="2016720"/>
            <a:ext cx="184442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Scores how unusual this minute is for one service.</a:t>
            </a:r>
            <a:endParaRPr lang="en-US" sz="1200" dirty="0"/>
          </a:p>
        </p:txBody>
      </p:sp>
      <p:sp>
        <p:nvSpPr>
          <p:cNvPr id="10" name="Shape 7"/>
          <p:cNvSpPr/>
          <p:nvPr/>
        </p:nvSpPr>
        <p:spPr>
          <a:xfrm>
            <a:off x="5676900" y="1569690"/>
            <a:ext cx="2095500" cy="1749921"/>
          </a:xfrm>
          <a:prstGeom prst="roundRect">
            <a:avLst>
              <a:gd name="adj" fmla="val 7257"/>
            </a:avLst>
          </a:prstGeom>
          <a:solidFill>
            <a:srgbClr val="BFE6E1"/>
          </a:solidFill>
          <a:ln/>
        </p:spPr>
      </p:sp>
      <p:sp>
        <p:nvSpPr>
          <p:cNvPr id="11" name="Text 8"/>
          <p:cNvSpPr/>
          <p:nvPr/>
        </p:nvSpPr>
        <p:spPr>
          <a:xfrm>
            <a:off x="5829300" y="1722090"/>
            <a:ext cx="184442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IAM whisperer</a:t>
            </a:r>
            <a:endParaRPr lang="en-US" sz="1600" dirty="0"/>
          </a:p>
        </p:txBody>
      </p:sp>
      <p:sp>
        <p:nvSpPr>
          <p:cNvPr id="12" name="Text 9"/>
          <p:cNvSpPr/>
          <p:nvPr/>
        </p:nvSpPr>
        <p:spPr>
          <a:xfrm>
            <a:off x="5829300" y="2016720"/>
            <a:ext cx="184442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Flags a CloudTrail event as normal or strange.</a:t>
            </a:r>
            <a:endParaRPr lang="en-US" sz="1200" dirty="0"/>
          </a:p>
        </p:txBody>
      </p:sp>
      <p:sp>
        <p:nvSpPr>
          <p:cNvPr id="13" name="Shape 10"/>
          <p:cNvSpPr/>
          <p:nvPr/>
        </p:nvSpPr>
        <p:spPr>
          <a:xfrm>
            <a:off x="3454400" y="3446611"/>
            <a:ext cx="2095500" cy="1963291"/>
          </a:xfrm>
          <a:prstGeom prst="roundRect">
            <a:avLst>
              <a:gd name="adj" fmla="val 6469"/>
            </a:avLst>
          </a:prstGeom>
          <a:solidFill>
            <a:srgbClr val="BFE6E1"/>
          </a:solidFill>
          <a:ln/>
        </p:spPr>
      </p:sp>
      <p:sp>
        <p:nvSpPr>
          <p:cNvPr id="14" name="Text 11"/>
          <p:cNvSpPr/>
          <p:nvPr/>
        </p:nvSpPr>
        <p:spPr>
          <a:xfrm>
            <a:off x="3606800" y="3599011"/>
            <a:ext cx="184442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Drift sniffer</a:t>
            </a:r>
            <a:endParaRPr lang="en-US" sz="1600" dirty="0"/>
          </a:p>
        </p:txBody>
      </p:sp>
      <p:sp>
        <p:nvSpPr>
          <p:cNvPr id="15" name="Text 12"/>
          <p:cNvSpPr/>
          <p:nvPr/>
        </p:nvSpPr>
        <p:spPr>
          <a:xfrm>
            <a:off x="3606800" y="3893641"/>
            <a:ext cx="184442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Compares configs: widened, narrowed or unchanged.</a:t>
            </a:r>
            <a:endParaRPr lang="en-US" sz="1200" dirty="0"/>
          </a:p>
        </p:txBody>
      </p:sp>
      <p:sp>
        <p:nvSpPr>
          <p:cNvPr id="16" name="Shape 13"/>
          <p:cNvSpPr/>
          <p:nvPr/>
        </p:nvSpPr>
        <p:spPr>
          <a:xfrm>
            <a:off x="5676900" y="3446611"/>
            <a:ext cx="2095500" cy="1963291"/>
          </a:xfrm>
          <a:prstGeom prst="roundRect">
            <a:avLst>
              <a:gd name="adj" fmla="val 6469"/>
            </a:avLst>
          </a:prstGeom>
          <a:solidFill>
            <a:srgbClr val="BFE6E1"/>
          </a:solidFill>
          <a:ln/>
        </p:spPr>
      </p:sp>
      <p:sp>
        <p:nvSpPr>
          <p:cNvPr id="17" name="Text 14"/>
          <p:cNvSpPr/>
          <p:nvPr/>
        </p:nvSpPr>
        <p:spPr>
          <a:xfrm>
            <a:off x="5829300" y="3599011"/>
            <a:ext cx="184442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Cost hunter</a:t>
            </a:r>
            <a:endParaRPr lang="en-US" sz="1600" dirty="0"/>
          </a:p>
        </p:txBody>
      </p:sp>
      <p:sp>
        <p:nvSpPr>
          <p:cNvPr id="18" name="Text 15"/>
          <p:cNvSpPr/>
          <p:nvPr/>
        </p:nvSpPr>
        <p:spPr>
          <a:xfrm>
            <a:off x="5829300" y="3893641"/>
            <a:ext cx="184442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Finds idle or orphaned resources and proposes, never deletes.</a:t>
            </a:r>
            <a:endParaRPr lang="en-US" sz="1200" dirty="0"/>
          </a:p>
        </p:txBody>
      </p:sp>
      <p:pic>
        <p:nvPicPr>
          <p:cNvPr id="19" name="Image 1" descr="arrow-right">    </p:cNvPr>
          <p:cNvPicPr>
            <a:picLocks noChangeAspect="1"/>
          </p:cNvPicPr>
          <p:nvPr/>
        </p:nvPicPr>
        <p:blipFill>
          <a:blip r:embed="rId2"/>
          <a:srcRect l="0" r="0" t="0" b="0"/>
          <a:stretch/>
        </p:blipFill>
        <p:spPr>
          <a:xfrm>
            <a:off x="7899400" y="3362771"/>
            <a:ext cx="355600" cy="254000"/>
          </a:xfrm>
          <a:prstGeom prst="rect">
            <a:avLst/>
          </a:prstGeom>
        </p:spPr>
      </p:pic>
      <p:sp>
        <p:nvSpPr>
          <p:cNvPr id="20" name="Shape 16"/>
          <p:cNvSpPr/>
          <p:nvPr/>
        </p:nvSpPr>
        <p:spPr>
          <a:xfrm>
            <a:off x="8382000" y="1569690"/>
            <a:ext cx="2997200" cy="1026071"/>
          </a:xfrm>
          <a:prstGeom prst="roundRect">
            <a:avLst>
              <a:gd name="adj" fmla="val 12377"/>
            </a:avLst>
          </a:prstGeom>
          <a:solidFill>
            <a:srgbClr val="BFE6E1"/>
          </a:solidFill>
          <a:ln/>
        </p:spPr>
      </p:sp>
      <p:sp>
        <p:nvSpPr>
          <p:cNvPr id="21" name="Text 17"/>
          <p:cNvSpPr/>
          <p:nvPr/>
        </p:nvSpPr>
        <p:spPr>
          <a:xfrm>
            <a:off x="8534400" y="1722090"/>
            <a:ext cx="277317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Aggregator</a:t>
            </a:r>
            <a:endParaRPr lang="en-US" sz="1600" dirty="0"/>
          </a:p>
        </p:txBody>
      </p:sp>
      <p:sp>
        <p:nvSpPr>
          <p:cNvPr id="22" name="Text 18"/>
          <p:cNvSpPr/>
          <p:nvPr/>
        </p:nvSpPr>
        <p:spPr>
          <a:xfrm>
            <a:off x="8534400" y="2016720"/>
            <a:ext cx="27731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Combines the scores. Escalates only when several light up together.</a:t>
            </a:r>
            <a:endParaRPr lang="en-US" sz="1200" dirty="0"/>
          </a:p>
        </p:txBody>
      </p:sp>
      <p:pic>
        <p:nvPicPr>
          <p:cNvPr id="23" name="Image 2" descr="arrow-down">    </p:cNvPr>
          <p:cNvPicPr>
            <a:picLocks noChangeAspect="1"/>
          </p:cNvPicPr>
          <p:nvPr/>
        </p:nvPicPr>
        <p:blipFill>
          <a:blip r:embed="rId3"/>
          <a:srcRect l="0" r="0" t="0" b="0"/>
          <a:stretch/>
        </p:blipFill>
        <p:spPr>
          <a:xfrm>
            <a:off x="9779000" y="2671961"/>
            <a:ext cx="203200" cy="228600"/>
          </a:xfrm>
          <a:prstGeom prst="rect">
            <a:avLst/>
          </a:prstGeom>
        </p:spPr>
      </p:pic>
      <p:sp>
        <p:nvSpPr>
          <p:cNvPr id="24" name="Shape 19"/>
          <p:cNvSpPr/>
          <p:nvPr/>
        </p:nvSpPr>
        <p:spPr>
          <a:xfrm>
            <a:off x="8382000" y="2976761"/>
            <a:ext cx="2997200" cy="1026071"/>
          </a:xfrm>
          <a:prstGeom prst="roundRect">
            <a:avLst>
              <a:gd name="adj" fmla="val 12377"/>
            </a:avLst>
          </a:prstGeom>
          <a:solidFill>
            <a:srgbClr val="F5C534"/>
          </a:solidFill>
          <a:ln/>
        </p:spPr>
      </p:sp>
      <p:sp>
        <p:nvSpPr>
          <p:cNvPr id="25" name="Text 20"/>
          <p:cNvSpPr/>
          <p:nvPr/>
        </p:nvSpPr>
        <p:spPr>
          <a:xfrm>
            <a:off x="8534400" y="3129161"/>
            <a:ext cx="277317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Storyteller</a:t>
            </a:r>
            <a:endParaRPr lang="en-US" sz="1600" dirty="0"/>
          </a:p>
        </p:txBody>
      </p:sp>
      <p:sp>
        <p:nvSpPr>
          <p:cNvPr id="26" name="Text 21"/>
          <p:cNvSpPr/>
          <p:nvPr/>
        </p:nvSpPr>
        <p:spPr>
          <a:xfrm>
            <a:off x="8534400" y="3423791"/>
            <a:ext cx="27731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A small LLM explains the incident across accounts.</a:t>
            </a:r>
            <a:endParaRPr lang="en-US" sz="1200" dirty="0"/>
          </a:p>
        </p:txBody>
      </p:sp>
      <p:pic>
        <p:nvPicPr>
          <p:cNvPr id="27" name="Image 3" descr="arrow-down">    </p:cNvPr>
          <p:cNvPicPr>
            <a:picLocks noChangeAspect="1"/>
          </p:cNvPicPr>
          <p:nvPr/>
        </p:nvPicPr>
        <p:blipFill>
          <a:blip r:embed="rId4"/>
          <a:srcRect l="0" r="0" t="0" b="0"/>
          <a:stretch/>
        </p:blipFill>
        <p:spPr>
          <a:xfrm>
            <a:off x="9779000" y="4079032"/>
            <a:ext cx="203200" cy="228600"/>
          </a:xfrm>
          <a:prstGeom prst="rect">
            <a:avLst/>
          </a:prstGeom>
        </p:spPr>
      </p:pic>
      <p:sp>
        <p:nvSpPr>
          <p:cNvPr id="28" name="Shape 22"/>
          <p:cNvSpPr/>
          <p:nvPr/>
        </p:nvSpPr>
        <p:spPr>
          <a:xfrm>
            <a:off x="8382000" y="4383832"/>
            <a:ext cx="2997200" cy="1026071"/>
          </a:xfrm>
          <a:prstGeom prst="roundRect">
            <a:avLst>
              <a:gd name="adj" fmla="val 12377"/>
            </a:avLst>
          </a:prstGeom>
          <a:solidFill>
            <a:srgbClr val="14213D"/>
          </a:solidFill>
          <a:ln/>
        </p:spPr>
      </p:sp>
      <p:sp>
        <p:nvSpPr>
          <p:cNvPr id="29" name="Text 23"/>
          <p:cNvSpPr/>
          <p:nvPr/>
        </p:nvSpPr>
        <p:spPr>
          <a:xfrm>
            <a:off x="8534400" y="4536232"/>
            <a:ext cx="277317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8F1"/>
                </a:solidFill>
                <a:latin typeface="DM Sans" pitchFamily="34" charset="0"/>
                <a:ea typeface="DM Sans" pitchFamily="34" charset="-122"/>
                <a:cs typeface="DM Sans" pitchFamily="34" charset="-120"/>
              </a:rPr>
              <a:t>Human</a:t>
            </a:r>
            <a:endParaRPr lang="en-US" sz="1600" dirty="0"/>
          </a:p>
        </p:txBody>
      </p:sp>
      <p:sp>
        <p:nvSpPr>
          <p:cNvPr id="30" name="Text 24"/>
          <p:cNvSpPr/>
          <p:nvPr/>
        </p:nvSpPr>
        <p:spPr>
          <a:xfrm>
            <a:off x="8534400" y="4830862"/>
            <a:ext cx="27731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F8F1"/>
                </a:solidFill>
                <a:latin typeface="DM Sans" pitchFamily="34" charset="0"/>
                <a:ea typeface="DM Sans" pitchFamily="34" charset="-122"/>
                <a:cs typeface="DM Sans" pitchFamily="34" charset="-120"/>
              </a:rPr>
              <a:t>A person approves every action. Reversible powers come later.</a:t>
            </a:r>
            <a:endParaRPr lang="en-US" sz="1200" dirty="0"/>
          </a:p>
        </p:txBody>
      </p:sp>
      <p:sp>
        <p:nvSpPr>
          <p:cNvPr id="31" name="Text 2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Tiny automatons for cloud infrastructures</a:t>
            </a:r>
            <a:endParaRPr lang="en-US" sz="1200" dirty="0"/>
          </a:p>
        </p:txBody>
      </p:sp>
      <p:sp>
        <p:nvSpPr>
          <p:cNvPr id="32" name="Text 26"/>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What each specialist is made of</a:t>
            </a:r>
            <a:endParaRPr lang="en-US" sz="3600" dirty="0"/>
          </a:p>
        </p:txBody>
      </p:sp>
      <p:sp>
        <p:nvSpPr>
          <p:cNvPr id="3" name="Shape 1"/>
          <p:cNvSpPr/>
          <p:nvPr/>
        </p:nvSpPr>
        <p:spPr>
          <a:xfrm>
            <a:off x="812800" y="1569690"/>
            <a:ext cx="3420517" cy="1046411"/>
          </a:xfrm>
          <a:prstGeom prst="roundRect">
            <a:avLst>
              <a:gd name="adj" fmla="val 14564"/>
            </a:avLst>
          </a:prstGeom>
          <a:solidFill>
            <a:srgbClr val="BFE6E1"/>
          </a:solidFill>
          <a:ln/>
        </p:spPr>
      </p:sp>
      <p:sp>
        <p:nvSpPr>
          <p:cNvPr id="4" name="Text 2"/>
          <p:cNvSpPr/>
          <p:nvPr/>
        </p:nvSpPr>
        <p:spPr>
          <a:xfrm>
            <a:off x="1016000" y="1722090"/>
            <a:ext cx="310454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DM Sans" pitchFamily="34" charset="0"/>
                <a:ea typeface="DM Sans" pitchFamily="34" charset="-122"/>
                <a:cs typeface="DM Sans" pitchFamily="34" charset="-120"/>
              </a:rPr>
              <a:t>Under 10 MB</a:t>
            </a:r>
            <a:endParaRPr lang="en-US" sz="3600" dirty="0"/>
          </a:p>
        </p:txBody>
      </p:sp>
      <p:sp>
        <p:nvSpPr>
          <p:cNvPr id="5" name="Text 3"/>
          <p:cNvSpPr/>
          <p:nvPr/>
        </p:nvSpPr>
        <p:spPr>
          <a:xfrm>
            <a:off x="1016000" y="2250380"/>
            <a:ext cx="3104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per specialist model</a:t>
            </a:r>
            <a:endParaRPr lang="en-US" sz="1200" dirty="0"/>
          </a:p>
        </p:txBody>
      </p:sp>
      <p:sp>
        <p:nvSpPr>
          <p:cNvPr id="6" name="Shape 4"/>
          <p:cNvSpPr/>
          <p:nvPr/>
        </p:nvSpPr>
        <p:spPr>
          <a:xfrm>
            <a:off x="4385717" y="1569690"/>
            <a:ext cx="3420566" cy="1046411"/>
          </a:xfrm>
          <a:prstGeom prst="roundRect">
            <a:avLst>
              <a:gd name="adj" fmla="val 14564"/>
            </a:avLst>
          </a:prstGeom>
          <a:solidFill>
            <a:srgbClr val="BFE6E1"/>
          </a:solidFill>
          <a:ln/>
        </p:spPr>
      </p:sp>
      <p:sp>
        <p:nvSpPr>
          <p:cNvPr id="7" name="Text 5"/>
          <p:cNvSpPr/>
          <p:nvPr/>
        </p:nvSpPr>
        <p:spPr>
          <a:xfrm>
            <a:off x="4588917" y="1722090"/>
            <a:ext cx="3104591"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DM Sans" pitchFamily="34" charset="0"/>
                <a:ea typeface="DM Sans" pitchFamily="34" charset="-122"/>
                <a:cs typeface="DM Sans" pitchFamily="34" charset="-120"/>
              </a:rPr>
              <a:t>5–100 ms</a:t>
            </a:r>
            <a:endParaRPr lang="en-US" sz="3600" dirty="0"/>
          </a:p>
        </p:txBody>
      </p:sp>
      <p:sp>
        <p:nvSpPr>
          <p:cNvPr id="8" name="Text 6"/>
          <p:cNvSpPr/>
          <p:nvPr/>
        </p:nvSpPr>
        <p:spPr>
          <a:xfrm>
            <a:off x="4588917" y="2250380"/>
            <a:ext cx="31045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inference per event</a:t>
            </a:r>
            <a:endParaRPr lang="en-US" sz="1200" dirty="0"/>
          </a:p>
        </p:txBody>
      </p:sp>
      <p:sp>
        <p:nvSpPr>
          <p:cNvPr id="9" name="Shape 7"/>
          <p:cNvSpPr/>
          <p:nvPr/>
        </p:nvSpPr>
        <p:spPr>
          <a:xfrm>
            <a:off x="7958683" y="1569690"/>
            <a:ext cx="3420517" cy="1046411"/>
          </a:xfrm>
          <a:prstGeom prst="roundRect">
            <a:avLst>
              <a:gd name="adj" fmla="val 14564"/>
            </a:avLst>
          </a:prstGeom>
          <a:solidFill>
            <a:srgbClr val="F5C534"/>
          </a:solidFill>
          <a:ln/>
        </p:spPr>
      </p:sp>
      <p:sp>
        <p:nvSpPr>
          <p:cNvPr id="10" name="Text 8"/>
          <p:cNvSpPr/>
          <p:nvPr/>
        </p:nvSpPr>
        <p:spPr>
          <a:xfrm>
            <a:off x="8161883" y="1722090"/>
            <a:ext cx="310454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DM Sans" pitchFamily="34" charset="0"/>
                <a:ea typeface="DM Sans" pitchFamily="34" charset="-122"/>
                <a:cs typeface="DM Sans" pitchFamily="34" charset="-120"/>
              </a:rPr>
              <a:t>128–256 MB</a:t>
            </a:r>
            <a:endParaRPr lang="en-US" sz="3600" dirty="0"/>
          </a:p>
        </p:txBody>
      </p:sp>
      <p:sp>
        <p:nvSpPr>
          <p:cNvPr id="11" name="Text 9"/>
          <p:cNvSpPr/>
          <p:nvPr/>
        </p:nvSpPr>
        <p:spPr>
          <a:xfrm>
            <a:off x="8161883" y="2250380"/>
            <a:ext cx="3104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of Lambda memory</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5500" y="2882801"/>
          <a:ext cx="10553700" cy="1876723"/>
        </p:xfrm>
        <a:graphic>
          <a:graphicData uri="http://schemas.openxmlformats.org/drawingml/2006/table">
            <a:tbl>
              <a:tblPr/>
              <a:tblGrid>
                <a:gridCol w="1794129"/>
                <a:gridCol w="4327017"/>
                <a:gridCol w="1266444"/>
                <a:gridCol w="1477518"/>
                <a:gridCol w="1688592"/>
              </a:tblGrid>
              <a:tr h="332680">
                <a:tc>
                  <a:txBody>
                    <a:bodyPr/>
                    <a:lstStyle/>
                    <a:p>
                      <a:pPr indent="0" marL="0">
                        <a:lnSpc>
                          <a:spcPts val="1680"/>
                        </a:lnSpc>
                        <a:buNone/>
                      </a:pPr>
                      <a:r>
                        <a:rPr lang="en-US" sz="1200" b="1" dirty="0">
                          <a:solidFill>
                            <a:srgbClr val="FBF8F1"/>
                          </a:solidFill>
                          <a:latin typeface="DM Sans" pitchFamily="34" charset="0"/>
                          <a:ea typeface="DM Sans" pitchFamily="34" charset="-122"/>
                          <a:cs typeface="DM Sans" pitchFamily="34" charset="-120"/>
                        </a:rPr>
                        <a:t>Specialist</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BF8F1"/>
                          </a:solidFill>
                          <a:latin typeface="DM Sans" pitchFamily="34" charset="0"/>
                          <a:ea typeface="DM Sans" pitchFamily="34" charset="-122"/>
                          <a:cs typeface="DM Sans" pitchFamily="34" charset="-120"/>
                        </a:rPr>
                        <a:t>Model</a:t>
                      </a:r>
                      <a:endParaRPr lang="en-US" sz="1200" dirty="0">
                        <a:latin typeface="DM Sans" charset="0"/>
                        <a:ea typeface="DM Sans" charset="0"/>
                        <a:cs typeface="DM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BF8F1"/>
                          </a:solidFill>
                          <a:latin typeface="DM Sans" pitchFamily="34" charset="0"/>
                          <a:ea typeface="DM Sans" pitchFamily="34" charset="-122"/>
                          <a:cs typeface="DM Sans" pitchFamily="34" charset="-120"/>
                        </a:rPr>
                        <a:t>Size</a:t>
                      </a:r>
                      <a:endParaRPr lang="en-US" sz="1200" dirty="0">
                        <a:latin typeface="DM Sans" charset="0"/>
                        <a:ea typeface="DM Sans" charset="0"/>
                        <a:cs typeface="DM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BF8F1"/>
                          </a:solidFill>
                          <a:latin typeface="DM Sans" pitchFamily="34" charset="0"/>
                          <a:ea typeface="DM Sans" pitchFamily="34" charset="-122"/>
                          <a:cs typeface="DM Sans" pitchFamily="34" charset="-120"/>
                        </a:rPr>
                        <a:t>Lambda memory</a:t>
                      </a:r>
                      <a:endParaRPr lang="en-US" sz="1200" dirty="0">
                        <a:latin typeface="DM Sans" charset="0"/>
                        <a:ea typeface="DM Sans" charset="0"/>
                        <a:cs typeface="DM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BF8F1"/>
                          </a:solidFill>
                          <a:latin typeface="DM Sans" pitchFamily="34" charset="0"/>
                          <a:ea typeface="DM Sans" pitchFamily="34" charset="-122"/>
                          <a:cs typeface="DM Sans" pitchFamily="34" charset="-120"/>
                        </a:rPr>
                        <a:t>Time per run</a:t>
                      </a:r>
                      <a:endParaRPr lang="en-US" sz="1200" dirty="0">
                        <a:latin typeface="DM Sans" charset="0"/>
                        <a:ea typeface="DM Sans" charset="0"/>
                        <a:cs typeface="DM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80">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Rhythm watcher</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Isolation forest or tiny autoencoder</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under 1 MB</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128 MB</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5–20 ms</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r>
              <a:tr h="332680">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IAM whisperer</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Gradient-boosted trees or frequency table</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1–5 MB</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128–256 MB</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10–50 ms</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2680">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Drift sniffer</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Config diff plus small risk classifier</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1–10 MB</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256 MB</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20–100 ms</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r>
              <a:tr h="546001">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Cost hunter</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Rules find candidates, small model judges</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1–10 MB</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256 MB</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Nightly or on detach event</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13" name="Text 10"/>
          <p:cNvSpPr/>
          <p:nvPr/>
        </p:nvSpPr>
        <p:spPr>
          <a:xfrm>
            <a:off x="812800" y="501352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Rough estimates, to be validated in a prototype.</a:t>
            </a:r>
            <a:endParaRPr lang="en-US" sz="1200" dirty="0"/>
          </a:p>
        </p:txBody>
      </p:sp>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Tiny automatons for cloud infrastructures</a:t>
            </a:r>
            <a:endParaRPr lang="en-US" sz="1200" dirty="0"/>
          </a:p>
        </p:txBody>
      </p:sp>
      <p:sp>
        <p:nvSpPr>
          <p:cNvPr id="15" name="Text 12"/>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How one automaton runs in Lambda</a:t>
            </a:r>
            <a:endParaRPr lang="en-US" sz="3600" dirty="0"/>
          </a:p>
        </p:txBody>
      </p:sp>
      <p:sp>
        <p:nvSpPr>
          <p:cNvPr id="3" name="Shape 1"/>
          <p:cNvSpPr/>
          <p:nvPr/>
        </p:nvSpPr>
        <p:spPr>
          <a:xfrm>
            <a:off x="812800" y="1569690"/>
            <a:ext cx="2527300" cy="1290191"/>
          </a:xfrm>
          <a:prstGeom prst="roundRect">
            <a:avLst>
              <a:gd name="adj" fmla="val 11812"/>
            </a:avLst>
          </a:prstGeom>
          <a:solidFill>
            <a:srgbClr val="E1EAF7"/>
          </a:solidFill>
          <a:ln/>
        </p:spPr>
      </p:sp>
      <p:sp>
        <p:nvSpPr>
          <p:cNvPr id="4" name="Text 2"/>
          <p:cNvSpPr/>
          <p:nvPr/>
        </p:nvSpPr>
        <p:spPr>
          <a:xfrm>
            <a:off x="990600" y="1747490"/>
            <a:ext cx="223685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1 · Trigger</a:t>
            </a:r>
            <a:endParaRPr lang="en-US" sz="1600" dirty="0"/>
          </a:p>
        </p:txBody>
      </p:sp>
      <p:sp>
        <p:nvSpPr>
          <p:cNvPr id="5" name="Text 3"/>
          <p:cNvSpPr/>
          <p:nvPr/>
        </p:nvSpPr>
        <p:spPr>
          <a:xfrm>
            <a:off x="990600" y="2042120"/>
            <a:ext cx="223685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EventBridge rule, SQS batch or a schedule.</a:t>
            </a:r>
            <a:endParaRPr lang="en-US" sz="1200" dirty="0"/>
          </a:p>
        </p:txBody>
      </p:sp>
      <p:sp>
        <p:nvSpPr>
          <p:cNvPr id="6" name="Shape 4"/>
          <p:cNvSpPr/>
          <p:nvPr/>
        </p:nvSpPr>
        <p:spPr>
          <a:xfrm>
            <a:off x="3492500" y="1569690"/>
            <a:ext cx="2527300" cy="1290191"/>
          </a:xfrm>
          <a:prstGeom prst="roundRect">
            <a:avLst>
              <a:gd name="adj" fmla="val 11812"/>
            </a:avLst>
          </a:prstGeom>
          <a:solidFill>
            <a:srgbClr val="E1EAF7"/>
          </a:solidFill>
          <a:ln/>
        </p:spPr>
      </p:sp>
      <p:sp>
        <p:nvSpPr>
          <p:cNvPr id="7" name="Text 5"/>
          <p:cNvSpPr/>
          <p:nvPr/>
        </p:nvSpPr>
        <p:spPr>
          <a:xfrm>
            <a:off x="3670300" y="1747490"/>
            <a:ext cx="223685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2 · Cold start</a:t>
            </a:r>
            <a:endParaRPr lang="en-US" sz="1600" dirty="0"/>
          </a:p>
        </p:txBody>
      </p:sp>
      <p:sp>
        <p:nvSpPr>
          <p:cNvPr id="8" name="Text 6"/>
          <p:cNvSpPr/>
          <p:nvPr/>
        </p:nvSpPr>
        <p:spPr>
          <a:xfrm>
            <a:off x="3670300" y="2042120"/>
            <a:ext cx="223685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The model loads once into memory: 50 to 300 ms for a few MB.</a:t>
            </a:r>
            <a:endParaRPr lang="en-US" sz="1200" dirty="0"/>
          </a:p>
        </p:txBody>
      </p:sp>
      <p:sp>
        <p:nvSpPr>
          <p:cNvPr id="9" name="Shape 7"/>
          <p:cNvSpPr/>
          <p:nvPr/>
        </p:nvSpPr>
        <p:spPr>
          <a:xfrm>
            <a:off x="6172200" y="1569690"/>
            <a:ext cx="2527300" cy="1290191"/>
          </a:xfrm>
          <a:prstGeom prst="roundRect">
            <a:avLst>
              <a:gd name="adj" fmla="val 11812"/>
            </a:avLst>
          </a:prstGeom>
          <a:solidFill>
            <a:srgbClr val="E1EAF7"/>
          </a:solidFill>
          <a:ln/>
        </p:spPr>
      </p:sp>
      <p:sp>
        <p:nvSpPr>
          <p:cNvPr id="10" name="Text 8"/>
          <p:cNvSpPr/>
          <p:nvPr/>
        </p:nvSpPr>
        <p:spPr>
          <a:xfrm>
            <a:off x="6350000" y="1747490"/>
            <a:ext cx="223685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3 · Inference</a:t>
            </a:r>
            <a:endParaRPr lang="en-US" sz="1600" dirty="0"/>
          </a:p>
        </p:txBody>
      </p:sp>
      <p:sp>
        <p:nvSpPr>
          <p:cNvPr id="11" name="Text 9"/>
          <p:cNvSpPr/>
          <p:nvPr/>
        </p:nvSpPr>
        <p:spPr>
          <a:xfrm>
            <a:off x="6350000" y="2042120"/>
            <a:ext cx="223685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Parse the event, build features, score it: 5 to 50 ms.</a:t>
            </a:r>
            <a:endParaRPr lang="en-US" sz="1200" dirty="0"/>
          </a:p>
        </p:txBody>
      </p:sp>
      <p:sp>
        <p:nvSpPr>
          <p:cNvPr id="12" name="Shape 10"/>
          <p:cNvSpPr/>
          <p:nvPr/>
        </p:nvSpPr>
        <p:spPr>
          <a:xfrm>
            <a:off x="8851900" y="1569690"/>
            <a:ext cx="2527300" cy="1290191"/>
          </a:xfrm>
          <a:prstGeom prst="roundRect">
            <a:avLst>
              <a:gd name="adj" fmla="val 11812"/>
            </a:avLst>
          </a:prstGeom>
          <a:solidFill>
            <a:srgbClr val="E1EAF7"/>
          </a:solidFill>
          <a:ln/>
        </p:spPr>
      </p:sp>
      <p:sp>
        <p:nvSpPr>
          <p:cNvPr id="13" name="Text 11"/>
          <p:cNvSpPr/>
          <p:nvPr/>
        </p:nvSpPr>
        <p:spPr>
          <a:xfrm>
            <a:off x="9029700" y="1747490"/>
            <a:ext cx="223685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4 · Verdict</a:t>
            </a:r>
            <a:endParaRPr lang="en-US" sz="1600" dirty="0"/>
          </a:p>
        </p:txBody>
      </p:sp>
      <p:sp>
        <p:nvSpPr>
          <p:cNvPr id="14" name="Text 12"/>
          <p:cNvSpPr/>
          <p:nvPr/>
        </p:nvSpPr>
        <p:spPr>
          <a:xfrm>
            <a:off x="9029700" y="2042120"/>
            <a:ext cx="223685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Score and one-line reason go to DynamoDB or SNS.</a:t>
            </a:r>
            <a:endParaRPr lang="en-US" sz="1200" dirty="0"/>
          </a:p>
        </p:txBody>
      </p:sp>
      <p:sp>
        <p:nvSpPr>
          <p:cNvPr id="15" name="Shape 13"/>
          <p:cNvSpPr/>
          <p:nvPr/>
        </p:nvSpPr>
        <p:spPr>
          <a:xfrm>
            <a:off x="812800" y="3113881"/>
            <a:ext cx="3420517" cy="1340991"/>
          </a:xfrm>
          <a:prstGeom prst="roundRect">
            <a:avLst>
              <a:gd name="adj" fmla="val 11365"/>
            </a:avLst>
          </a:prstGeom>
          <a:solidFill>
            <a:srgbClr val="BFE6E1"/>
          </a:solidFill>
          <a:ln/>
        </p:spPr>
      </p:sp>
      <p:sp>
        <p:nvSpPr>
          <p:cNvPr id="16" name="Text 14"/>
          <p:cNvSpPr/>
          <p:nvPr/>
        </p:nvSpPr>
        <p:spPr>
          <a:xfrm>
            <a:off x="1016000" y="3317081"/>
            <a:ext cx="3104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Packaging</a:t>
            </a:r>
            <a:endParaRPr lang="en-US" sz="1600" dirty="0"/>
          </a:p>
        </p:txBody>
      </p:sp>
      <p:sp>
        <p:nvSpPr>
          <p:cNvPr id="17" name="Text 15"/>
          <p:cNvSpPr/>
          <p:nvPr/>
        </p:nvSpPr>
        <p:spPr>
          <a:xfrm>
            <a:off x="1016000" y="3611711"/>
            <a:ext cx="31045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Model file in the zip, a layer or a container image. ONNX Runtime keeps the library small.</a:t>
            </a:r>
            <a:endParaRPr lang="en-US" sz="1200" dirty="0"/>
          </a:p>
        </p:txBody>
      </p:sp>
      <p:sp>
        <p:nvSpPr>
          <p:cNvPr id="18" name="Shape 16"/>
          <p:cNvSpPr/>
          <p:nvPr/>
        </p:nvSpPr>
        <p:spPr>
          <a:xfrm>
            <a:off x="4385717" y="3113881"/>
            <a:ext cx="3420566" cy="1340991"/>
          </a:xfrm>
          <a:prstGeom prst="roundRect">
            <a:avLst>
              <a:gd name="adj" fmla="val 11365"/>
            </a:avLst>
          </a:prstGeom>
          <a:solidFill>
            <a:srgbClr val="BFE6E1"/>
          </a:solidFill>
          <a:ln/>
        </p:spPr>
      </p:sp>
      <p:sp>
        <p:nvSpPr>
          <p:cNvPr id="19" name="Text 17"/>
          <p:cNvSpPr/>
          <p:nvPr/>
        </p:nvSpPr>
        <p:spPr>
          <a:xfrm>
            <a:off x="4588917" y="3317081"/>
            <a:ext cx="310459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Warm runs</a:t>
            </a:r>
            <a:endParaRPr lang="en-US" sz="1600" dirty="0"/>
          </a:p>
        </p:txBody>
      </p:sp>
      <p:sp>
        <p:nvSpPr>
          <p:cNvPr id="20" name="Text 18"/>
          <p:cNvSpPr/>
          <p:nvPr/>
        </p:nvSpPr>
        <p:spPr>
          <a:xfrm>
            <a:off x="4588917" y="3611711"/>
            <a:ext cx="310459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Later events reuse the loaded model from memory, with no reload.</a:t>
            </a:r>
            <a:endParaRPr lang="en-US" sz="1200" dirty="0"/>
          </a:p>
        </p:txBody>
      </p:sp>
      <p:sp>
        <p:nvSpPr>
          <p:cNvPr id="21" name="Shape 19"/>
          <p:cNvSpPr/>
          <p:nvPr/>
        </p:nvSpPr>
        <p:spPr>
          <a:xfrm>
            <a:off x="7958683" y="3113881"/>
            <a:ext cx="3420517" cy="1340991"/>
          </a:xfrm>
          <a:prstGeom prst="roundRect">
            <a:avLst>
              <a:gd name="adj" fmla="val 11365"/>
            </a:avLst>
          </a:prstGeom>
          <a:solidFill>
            <a:srgbClr val="F5C534"/>
          </a:solidFill>
          <a:ln/>
        </p:spPr>
      </p:sp>
      <p:sp>
        <p:nvSpPr>
          <p:cNvPr id="22" name="Text 20"/>
          <p:cNvSpPr/>
          <p:nvPr/>
        </p:nvSpPr>
        <p:spPr>
          <a:xfrm>
            <a:off x="8161883" y="3317081"/>
            <a:ext cx="3104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Cost</a:t>
            </a:r>
            <a:endParaRPr lang="en-US" sz="1600" dirty="0"/>
          </a:p>
        </p:txBody>
      </p:sp>
      <p:sp>
        <p:nvSpPr>
          <p:cNvPr id="23" name="Text 21"/>
          <p:cNvSpPr/>
          <p:nvPr/>
        </p:nvSpPr>
        <p:spPr>
          <a:xfrm>
            <a:off x="8161883" y="3611711"/>
            <a:ext cx="3104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128 to 512 MB on ARM Graviton. A fraction of a cent per thousand runs.</a:t>
            </a:r>
            <a:endParaRPr lang="en-US" sz="1200" dirty="0"/>
          </a:p>
        </p:txBody>
      </p:sp>
      <p:sp>
        <p:nvSpPr>
          <p:cNvPr id="24" name="Text 22"/>
          <p:cNvSpPr/>
          <p:nvPr/>
        </p:nvSpPr>
        <p:spPr>
          <a:xfrm>
            <a:off x="812800" y="4708872"/>
            <a:ext cx="10566400" cy="782241"/>
          </a:xfrm>
          <a:prstGeom prst="roundRect">
            <a:avLst>
              <a:gd name="adj" fmla="val 19482"/>
            </a:avLst>
          </a:prstGeom>
          <a:solidFill>
            <a:srgbClr val="FBEFC4"/>
          </a:solidFill>
          <a:ln/>
        </p:spPr>
        <p:txBody>
          <a:bodyPr wrap="square" lIns="209364" tIns="133164" rIns="0" bIns="107764"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The storyteller is the only heavy part: a 1 to 3B parameter LLM, 4-bit quantized, in 1 to 2 GB of RAM on a small CPU instance. It wakes only when several specialists light up.</a:t>
            </a:r>
            <a:endParaRPr lang="en-US" sz="1200" dirty="0"/>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Tiny automatons for cloud infrastructures</a:t>
            </a:r>
            <a:endParaRPr lang="en-US" sz="1200" dirty="0"/>
          </a:p>
        </p:txBody>
      </p:sp>
      <p:sp>
        <p:nvSpPr>
          <p:cNvPr id="26" name="Text 24"/>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A smaller attack surface</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82390"/>
          <a:ext cx="10553700" cy="2422723"/>
        </p:xfrm>
        <a:graphic>
          <a:graphicData uri="http://schemas.openxmlformats.org/drawingml/2006/table">
            <a:tbl>
              <a:tblPr/>
              <a:tblGrid>
                <a:gridCol w="1688592"/>
                <a:gridCol w="4432554"/>
                <a:gridCol w="4432554"/>
              </a:tblGrid>
              <a:tr h="332680">
                <a:tc>
                  <a:txBody>
                    <a:bodyPr/>
                    <a:lstStyle/>
                    <a:p>
                      <a:pPr indent="0" marL="0">
                        <a:lnSpc>
                          <a:spcPts val="1680"/>
                        </a:lnSpc>
                        <a:buNone/>
                      </a:pPr>
                      <a:r>
                        <a:rPr lang="en-US" sz="1200" b="1" dirty="0">
                          <a:solidFill>
                            <a:srgbClr val="FBF8F1"/>
                          </a:solidFill>
                          <a:latin typeface="DM Sans" pitchFamily="34" charset="0"/>
                          <a:ea typeface="DM Sans" pitchFamily="34" charset="-122"/>
                          <a:cs typeface="DM Sans" pitchFamily="34" charset="-120"/>
                        </a:rPr>
                        <a:t>Concern</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BF8F1"/>
                          </a:solidFill>
                          <a:latin typeface="DM Sans" pitchFamily="34" charset="0"/>
                          <a:ea typeface="DM Sans" pitchFamily="34" charset="-122"/>
                          <a:cs typeface="DM Sans" pitchFamily="34" charset="-120"/>
                        </a:rPr>
                        <a:t>Classic API or hosted LLM agent</a:t>
                      </a:r>
                      <a:endParaRPr lang="en-US" sz="1200" dirty="0">
                        <a:latin typeface="DM Sans" charset="0"/>
                        <a:ea typeface="DM Sans" charset="0"/>
                        <a:cs typeface="DM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BF8F1"/>
                          </a:solidFill>
                          <a:latin typeface="DM Sans" pitchFamily="34" charset="0"/>
                          <a:ea typeface="DM Sans" pitchFamily="34" charset="-122"/>
                          <a:cs typeface="DM Sans" pitchFamily="34" charset="-120"/>
                        </a:rPr>
                        <a:t>Tiny automaton</a:t>
                      </a:r>
                      <a:endParaRPr lang="en-US" sz="1200" dirty="0">
                        <a:latin typeface="DM Sans" charset="0"/>
                        <a:ea typeface="DM Sans" charset="0"/>
                        <a:cs typeface="DM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80">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Exposure</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An endpoint to secure, patch and rate-limit</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No inbound endpoint; it wakes on events inside the account</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r>
              <a:tr h="546001">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Data</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Logs and configs may leave the account for a vendor or hosted model</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Inference runs inside our account; only a score and a reason leave</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2680">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Permissions</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Broad tokens, and sometimes write access</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One read-only IAM role per automaton, scoped to its signal</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r>
              <a:tr h="332680">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Manipulation</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Free text in logs or tickets can steer an LLM agent</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Inputs are numeric features, so no text can steer it</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546001">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Audit</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Output can differ from run to run</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Same input gives the same score; the model file is versioned and hashable</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r>
            </a:tbl>
          </a:graphicData>
        </a:graphic>
      </p:graphicFrame>
      <p:sp>
        <p:nvSpPr>
          <p:cNvPr id="4" name="Text 1"/>
          <p:cNvSpPr/>
          <p:nvPr/>
        </p:nvSpPr>
        <p:spPr>
          <a:xfrm>
            <a:off x="812800" y="425911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Scores stay advisory: an attacker can still try to shape traffic, so no single automaton is trusted on its own.</a:t>
            </a:r>
            <a:endParaRPr lang="en-US" sz="1200" dirty="0"/>
          </a:p>
        </p:txBody>
      </p:sp>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Tiny automatons for cloud infrastructures</a:t>
            </a:r>
            <a:endParaRPr lang="en-US" sz="1200" dirty="0"/>
          </a:p>
        </p:txBody>
      </p:sp>
      <p:sp>
        <p:nvSpPr>
          <p:cNvPr id="6" name="Text 3"/>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Less to build and run</a:t>
            </a:r>
            <a:endParaRPr lang="en-US" sz="3600" dirty="0"/>
          </a:p>
        </p:txBody>
      </p:sp>
      <p:sp>
        <p:nvSpPr>
          <p:cNvPr id="3" name="Shape 1"/>
          <p:cNvSpPr/>
          <p:nvPr/>
        </p:nvSpPr>
        <p:spPr>
          <a:xfrm>
            <a:off x="812800" y="1569690"/>
            <a:ext cx="5207000" cy="1264841"/>
          </a:xfrm>
          <a:prstGeom prst="roundRect">
            <a:avLst>
              <a:gd name="adj" fmla="val 12049"/>
            </a:avLst>
          </a:prstGeom>
          <a:solidFill>
            <a:srgbClr val="BFE6E1"/>
          </a:solidFill>
          <a:ln/>
        </p:spPr>
      </p:sp>
      <p:pic>
        <p:nvPicPr>
          <p:cNvPr id="4" name="Image 0" descr="Wrench">    </p:cNvPr>
          <p:cNvPicPr>
            <a:picLocks noChangeAspect="1"/>
          </p:cNvPicPr>
          <p:nvPr/>
        </p:nvPicPr>
        <p:blipFill>
          <a:blip r:embed="rId1"/>
          <a:srcRect l="0" r="0" t="0" b="0"/>
          <a:stretch/>
        </p:blipFill>
        <p:spPr>
          <a:xfrm>
            <a:off x="1016000" y="1772890"/>
            <a:ext cx="355600" cy="355600"/>
          </a:xfrm>
          <a:prstGeom prst="rect">
            <a:avLst/>
          </a:prstGeom>
        </p:spPr>
      </p:pic>
      <p:sp>
        <p:nvSpPr>
          <p:cNvPr id="5" name="Text 2"/>
          <p:cNvSpPr/>
          <p:nvPr/>
        </p:nvSpPr>
        <p:spPr>
          <a:xfrm>
            <a:off x="1498600" y="1828750"/>
            <a:ext cx="157305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One job each</a:t>
            </a:r>
            <a:endParaRPr lang="en-US" sz="1600" dirty="0"/>
          </a:p>
        </p:txBody>
      </p:sp>
      <p:sp>
        <p:nvSpPr>
          <p:cNvPr id="6" name="Text 3"/>
          <p:cNvSpPr/>
          <p:nvPr/>
        </p:nvSpPr>
        <p:spPr>
          <a:xfrm>
            <a:off x="1016000" y="2204690"/>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One input and one output make an automaton easy to test, replace or switch off.</a:t>
            </a:r>
            <a:endParaRPr lang="en-US" sz="1200" dirty="0"/>
          </a:p>
        </p:txBody>
      </p:sp>
      <p:sp>
        <p:nvSpPr>
          <p:cNvPr id="7" name="Shape 4"/>
          <p:cNvSpPr/>
          <p:nvPr/>
        </p:nvSpPr>
        <p:spPr>
          <a:xfrm>
            <a:off x="6172200" y="1569690"/>
            <a:ext cx="5207000" cy="1264841"/>
          </a:xfrm>
          <a:prstGeom prst="roundRect">
            <a:avLst>
              <a:gd name="adj" fmla="val 12049"/>
            </a:avLst>
          </a:prstGeom>
          <a:solidFill>
            <a:srgbClr val="BFE6E1"/>
          </a:solidFill>
          <a:ln/>
        </p:spPr>
      </p:sp>
      <p:pic>
        <p:nvPicPr>
          <p:cNvPr id="8" name="Image 1" descr="Lightning">    </p:cNvPr>
          <p:cNvPicPr>
            <a:picLocks noChangeAspect="1"/>
          </p:cNvPicPr>
          <p:nvPr/>
        </p:nvPicPr>
        <p:blipFill>
          <a:blip r:embed="rId2"/>
          <a:srcRect l="0" r="0" t="0" b="0"/>
          <a:stretch/>
        </p:blipFill>
        <p:spPr>
          <a:xfrm>
            <a:off x="6375400" y="1772890"/>
            <a:ext cx="355600" cy="355600"/>
          </a:xfrm>
          <a:prstGeom prst="rect">
            <a:avLst/>
          </a:prstGeom>
        </p:spPr>
      </p:pic>
      <p:sp>
        <p:nvSpPr>
          <p:cNvPr id="9" name="Text 5"/>
          <p:cNvSpPr/>
          <p:nvPr/>
        </p:nvSpPr>
        <p:spPr>
          <a:xfrm>
            <a:off x="6858000" y="1828750"/>
            <a:ext cx="163949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Tiny footprint</a:t>
            </a:r>
            <a:endParaRPr lang="en-US" sz="1600" dirty="0"/>
          </a:p>
        </p:txBody>
      </p:sp>
      <p:sp>
        <p:nvSpPr>
          <p:cNvPr id="10" name="Text 6"/>
          <p:cNvSpPr/>
          <p:nvPr/>
        </p:nvSpPr>
        <p:spPr>
          <a:xfrm>
            <a:off x="6375400" y="2204690"/>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A few MB in a 128 to 256 MB Lambda. No GPU, no cluster, no server to patch.</a:t>
            </a:r>
            <a:endParaRPr lang="en-US" sz="1200" dirty="0"/>
          </a:p>
        </p:txBody>
      </p:sp>
      <p:sp>
        <p:nvSpPr>
          <p:cNvPr id="11" name="Shape 7"/>
          <p:cNvSpPr/>
          <p:nvPr/>
        </p:nvSpPr>
        <p:spPr>
          <a:xfrm>
            <a:off x="812800" y="2986931"/>
            <a:ext cx="5207000" cy="1264841"/>
          </a:xfrm>
          <a:prstGeom prst="roundRect">
            <a:avLst>
              <a:gd name="adj" fmla="val 12049"/>
            </a:avLst>
          </a:prstGeom>
          <a:solidFill>
            <a:srgbClr val="BFE6E1"/>
          </a:solidFill>
          <a:ln/>
        </p:spPr>
      </p:sp>
      <p:pic>
        <p:nvPicPr>
          <p:cNvPr id="12" name="Image 2" descr="Chart">    </p:cNvPr>
          <p:cNvPicPr>
            <a:picLocks noChangeAspect="1"/>
          </p:cNvPicPr>
          <p:nvPr/>
        </p:nvPicPr>
        <p:blipFill>
          <a:blip r:embed="rId3"/>
          <a:srcRect l="0" r="0" t="0" b="0"/>
          <a:stretch/>
        </p:blipFill>
        <p:spPr>
          <a:xfrm>
            <a:off x="1016000" y="3190131"/>
            <a:ext cx="355600" cy="355600"/>
          </a:xfrm>
          <a:prstGeom prst="rect">
            <a:avLst/>
          </a:prstGeom>
        </p:spPr>
      </p:pic>
      <p:sp>
        <p:nvSpPr>
          <p:cNvPr id="13" name="Text 8"/>
          <p:cNvSpPr/>
          <p:nvPr/>
        </p:nvSpPr>
        <p:spPr>
          <a:xfrm>
            <a:off x="1498600" y="3245991"/>
            <a:ext cx="15534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Cheap to run</a:t>
            </a:r>
            <a:endParaRPr lang="en-US" sz="1600" dirty="0"/>
          </a:p>
        </p:txBody>
      </p:sp>
      <p:sp>
        <p:nvSpPr>
          <p:cNvPr id="14" name="Text 9"/>
          <p:cNvSpPr/>
          <p:nvPr/>
        </p:nvSpPr>
        <p:spPr>
          <a:xfrm>
            <a:off x="1016000" y="3621931"/>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A fraction of a cent per thousand runs, so cost grows slowly as more automatons are added.</a:t>
            </a:r>
            <a:endParaRPr lang="en-US" sz="1200" dirty="0"/>
          </a:p>
        </p:txBody>
      </p:sp>
      <p:sp>
        <p:nvSpPr>
          <p:cNvPr id="15" name="Shape 10"/>
          <p:cNvSpPr/>
          <p:nvPr/>
        </p:nvSpPr>
        <p:spPr>
          <a:xfrm>
            <a:off x="6172200" y="2986931"/>
            <a:ext cx="5207000" cy="1264841"/>
          </a:xfrm>
          <a:prstGeom prst="roundRect">
            <a:avLst>
              <a:gd name="adj" fmla="val 12049"/>
            </a:avLst>
          </a:prstGeom>
          <a:solidFill>
            <a:srgbClr val="BFE6E1"/>
          </a:solidFill>
          <a:ln/>
        </p:spPr>
      </p:sp>
      <p:pic>
        <p:nvPicPr>
          <p:cNvPr id="16" name="Image 3" descr="Settings">    </p:cNvPr>
          <p:cNvPicPr>
            <a:picLocks noChangeAspect="1"/>
          </p:cNvPicPr>
          <p:nvPr/>
        </p:nvPicPr>
        <p:blipFill>
          <a:blip r:embed="rId4"/>
          <a:srcRect l="0" r="0" t="0" b="0"/>
          <a:stretch/>
        </p:blipFill>
        <p:spPr>
          <a:xfrm>
            <a:off x="6375400" y="3190131"/>
            <a:ext cx="355600" cy="355600"/>
          </a:xfrm>
          <a:prstGeom prst="rect">
            <a:avLst/>
          </a:prstGeom>
        </p:spPr>
      </p:pic>
      <p:sp>
        <p:nvSpPr>
          <p:cNvPr id="17" name="Text 11"/>
          <p:cNvSpPr/>
          <p:nvPr/>
        </p:nvSpPr>
        <p:spPr>
          <a:xfrm>
            <a:off x="6858000" y="3245991"/>
            <a:ext cx="20711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Simple to change</a:t>
            </a:r>
            <a:endParaRPr lang="en-US" sz="1600" dirty="0"/>
          </a:p>
        </p:txBody>
      </p:sp>
      <p:sp>
        <p:nvSpPr>
          <p:cNvPr id="18" name="Text 12"/>
          <p:cNvSpPr/>
          <p:nvPr/>
        </p:nvSpPr>
        <p:spPr>
          <a:xfrm>
            <a:off x="6375400" y="3621931"/>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Retrain on new data and swap one model file, instead of editing pile-ups of rules.</a:t>
            </a:r>
            <a:endParaRPr lang="en-US" sz="1200" dirty="0"/>
          </a:p>
        </p:txBody>
      </p:sp>
      <p:sp>
        <p:nvSpPr>
          <p:cNvPr id="19" name="Shape 13"/>
          <p:cNvSpPr/>
          <p:nvPr/>
        </p:nvSpPr>
        <p:spPr>
          <a:xfrm>
            <a:off x="812800" y="4505771"/>
            <a:ext cx="10566400" cy="711200"/>
          </a:xfrm>
          <a:prstGeom prst="roundRect">
            <a:avLst>
              <a:gd name="adj" fmla="val 21429"/>
            </a:avLst>
          </a:prstGeom>
          <a:solidFill>
            <a:srgbClr val="FBEFC4"/>
          </a:solidFill>
          <a:ln/>
        </p:spPr>
      </p:sp>
      <p:pic>
        <p:nvPicPr>
          <p:cNvPr id="20" name="Image 4" descr="Lightbulb">    </p:cNvPr>
          <p:cNvPicPr>
            <a:picLocks noChangeAspect="1"/>
          </p:cNvPicPr>
          <p:nvPr/>
        </p:nvPicPr>
        <p:blipFill>
          <a:blip r:embed="rId5"/>
          <a:srcRect l="0" r="0" t="0" b="0"/>
          <a:stretch/>
        </p:blipFill>
        <p:spPr>
          <a:xfrm>
            <a:off x="1066800" y="4683571"/>
            <a:ext cx="355600" cy="355600"/>
          </a:xfrm>
          <a:prstGeom prst="rect">
            <a:avLst/>
          </a:prstGeom>
        </p:spPr>
      </p:pic>
      <p:sp>
        <p:nvSpPr>
          <p:cNvPr id="21" name="Text 14"/>
          <p:cNvSpPr/>
          <p:nvPr/>
        </p:nvSpPr>
        <p:spPr>
          <a:xfrm>
            <a:off x="1574800" y="4754711"/>
            <a:ext cx="72487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Compare: hand-tuned rules, regexes and thresholds that pile up with every incident.</a:t>
            </a:r>
            <a:endParaRPr lang="en-US" sz="1200" dirty="0"/>
          </a:p>
        </p:txBody>
      </p:sp>
      <p:sp>
        <p:nvSpPr>
          <p:cNvPr id="22"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Tiny automatons for cloud infrastructures</a:t>
            </a:r>
            <a:endParaRPr lang="en-US" sz="1200" dirty="0"/>
          </a:p>
        </p:txBody>
      </p:sp>
      <p:sp>
        <p:nvSpPr>
          <p:cNvPr id="23" name="Text 16"/>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8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Repetitive work nobody covers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82390"/>
          <a:ext cx="10553700" cy="2303363"/>
        </p:xfrm>
        <a:graphic>
          <a:graphicData uri="http://schemas.openxmlformats.org/drawingml/2006/table">
            <a:tbl>
              <a:tblPr/>
              <a:tblGrid>
                <a:gridCol w="1899666"/>
                <a:gridCol w="4010406"/>
                <a:gridCol w="4643628"/>
              </a:tblGrid>
              <a:tr h="332680">
                <a:tc>
                  <a:txBody>
                    <a:bodyPr/>
                    <a:lstStyle/>
                    <a:p>
                      <a:pPr indent="0" marL="0">
                        <a:lnSpc>
                          <a:spcPts val="1680"/>
                        </a:lnSpc>
                        <a:buNone/>
                      </a:pPr>
                      <a:r>
                        <a:rPr lang="en-US" sz="1200" b="1" dirty="0">
                          <a:solidFill>
                            <a:srgbClr val="FBF8F1"/>
                          </a:solidFill>
                          <a:latin typeface="DM Sans" pitchFamily="34" charset="0"/>
                          <a:ea typeface="DM Sans" pitchFamily="34" charset="-122"/>
                          <a:cs typeface="DM Sans" pitchFamily="34" charset="-120"/>
                        </a:rPr>
                        <a:t>Area</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BF8F1"/>
                          </a:solidFill>
                          <a:latin typeface="DM Sans" pitchFamily="34" charset="0"/>
                          <a:ea typeface="DM Sans" pitchFamily="34" charset="-122"/>
                          <a:cs typeface="DM Sans" pitchFamily="34" charset="-120"/>
                        </a:rPr>
                        <a:t>Today</a:t>
                      </a:r>
                      <a:endParaRPr lang="en-US" sz="1200" dirty="0">
                        <a:latin typeface="DM Sans" charset="0"/>
                        <a:ea typeface="DM Sans" charset="0"/>
                        <a:cs typeface="DM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BF8F1"/>
                          </a:solidFill>
                          <a:latin typeface="DM Sans" pitchFamily="34" charset="0"/>
                          <a:ea typeface="DM Sans" pitchFamily="34" charset="-122"/>
                          <a:cs typeface="DM Sans" pitchFamily="34" charset="-120"/>
                        </a:rPr>
                        <a:t>With an automaton</a:t>
                      </a:r>
                      <a:endParaRPr lang="en-US" sz="1200" dirty="0">
                        <a:latin typeface="DM Sans" charset="0"/>
                        <a:ea typeface="DM Sans" charset="0"/>
                        <a:cs typeface="DM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6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6001">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ALB errors</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Any non-200 line within 10 minutes raises an alert</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Scores each log file against normal and alerts only on an unusual mix</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r>
              <a:tr h="546001">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Deployments</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A marker records each one; nothing checks what happens next</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Compares error rate and latency before and after every deployment</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546001">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WAF limits</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Fixed rate limits in Terraform variables, changed by hand</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Proposes limits from real traffic, as a pull request</a:t>
                      </a:r>
                      <a:endParaRPr lang="en-US" sz="1200" dirty="0">
                        <a:latin typeface="DM Sans" charset="0"/>
                        <a:ea typeface="DM Sans" charset="0"/>
                        <a:cs typeface="DM Sans" charset="0"/>
                      </a:endParaRPr>
                    </a:p>
                  </a:txBody>
                  <a:tcPr marL="53340" marR="53340" marT="53340" marB="53340" anchor="t">
                    <a:lnL w="12700" cap="flat" cmpd="sng" algn="ctr">
                      <a:solidFill>
                        <a:srgbClr val="C0BBAF"/>
                      </a:solidFill>
                      <a:prstDash val="solid"/>
                      <a:round/>
                      <a:headEnd type="none" w="med" len="med"/>
                      <a:tailEnd type="none" w="med" len="med"/>
                    </a:lnL>
                    <a:lnR w="12700" cap="flat" cmpd="sng" algn="ctr">
                      <a:solidFill>
                        <a:srgbClr val="C0BB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BAF"/>
                      </a:solidFill>
                      <a:prstDash val="solid"/>
                      <a:round/>
                      <a:headEnd type="none" w="med" len="med"/>
                      <a:tailEnd type="none" w="med" len="med"/>
                    </a:lnB>
                    <a:solidFill>
                      <a:srgbClr val="F1EADB"/>
                    </a:solidFill>
                  </a:tcPr>
                </a:tc>
              </a:tr>
              <a:tr h="332680">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Past incidents</a:t>
                      </a:r>
                      <a:endParaRPr lang="en-US" sz="1200" dirty="0">
                        <a:latin typeface="DM Sans" charset="0"/>
                        <a:ea typeface="DM Sans" charset="0"/>
                        <a:cs typeface="DM Sans" charset="0"/>
                      </a:endParaRPr>
                    </a:p>
                  </a:txBody>
                  <a:tcPr marL="53340" marR="53340" marT="53340" marB="53340" anchor="t">
                    <a:lnL w="12700" cap="flat" cmpd="sng" algn="ctr">
                      <a:solidFill>
                        <a:srgbClr val="C8C6C0"/>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Lessons live in a few people’s heads</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14213D"/>
                          </a:solidFill>
                          <a:latin typeface="DM Sans" pitchFamily="34" charset="0"/>
                          <a:ea typeface="DM Sans" pitchFamily="34" charset="-122"/>
                          <a:cs typeface="DM Sans" pitchFamily="34" charset="-120"/>
                        </a:rPr>
                        <a:t>Recognizes patterns that resemble earlier incidents</a:t>
                      </a:r>
                      <a:endParaRPr lang="en-US" sz="1200" dirty="0">
                        <a:latin typeface="DM Sans" charset="0"/>
                        <a:ea typeface="DM Sans" charset="0"/>
                        <a:cs typeface="DM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B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4" name="Shape 1"/>
          <p:cNvSpPr/>
          <p:nvPr/>
        </p:nvSpPr>
        <p:spPr>
          <a:xfrm>
            <a:off x="812800" y="4139754"/>
            <a:ext cx="10566400" cy="934641"/>
          </a:xfrm>
          <a:prstGeom prst="roundRect">
            <a:avLst>
              <a:gd name="adj" fmla="val 16306"/>
            </a:avLst>
          </a:prstGeom>
          <a:solidFill>
            <a:srgbClr val="F5C534"/>
          </a:solidFill>
          <a:ln/>
        </p:spPr>
      </p:sp>
      <p:pic>
        <p:nvPicPr>
          <p:cNvPr id="5" name="Image 0" descr="Clock">    </p:cNvPr>
          <p:cNvPicPr>
            <a:picLocks noChangeAspect="1"/>
          </p:cNvPicPr>
          <p:nvPr/>
        </p:nvPicPr>
        <p:blipFill>
          <a:blip r:embed="rId1"/>
          <a:srcRect l="-451" r="-451" t="0" b="0"/>
          <a:stretch/>
        </p:blipFill>
        <p:spPr>
          <a:xfrm>
            <a:off x="1066800" y="4403874"/>
            <a:ext cx="333177" cy="406400"/>
          </a:xfrm>
          <a:prstGeom prst="rect">
            <a:avLst/>
          </a:prstGeom>
        </p:spPr>
      </p:pic>
      <p:sp>
        <p:nvSpPr>
          <p:cNvPr id="6" name="Text 2"/>
          <p:cNvSpPr/>
          <p:nvPr/>
        </p:nvSpPr>
        <p:spPr>
          <a:xfrm>
            <a:off x="1552377" y="4342954"/>
            <a:ext cx="9860008"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13D"/>
                </a:solidFill>
                <a:latin typeface="DM Sans" pitchFamily="34" charset="0"/>
                <a:ea typeface="DM Sans" pitchFamily="34" charset="-122"/>
                <a:cs typeface="DM Sans" pitchFamily="34" charset="-120"/>
              </a:rPr>
              <a:t>It never gets bored, works at 3 a.m. and covers every account, so people spend time on judgment instead of watching.</a:t>
            </a:r>
            <a:endParaRPr lang="en-US" sz="1600" dirty="0"/>
          </a:p>
        </p:txBody>
      </p:sp>
      <p:sp>
        <p:nvSpPr>
          <p:cNvPr id="7"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Tiny automatons for cloud infrastructures</a:t>
            </a:r>
            <a:endParaRPr lang="en-US" sz="1200" dirty="0"/>
          </a:p>
        </p:txBody>
      </p:sp>
      <p:sp>
        <p:nvSpPr>
          <p:cNvPr id="8" name="Text 4"/>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Honest limits to plan for</a:t>
            </a:r>
            <a:endParaRPr lang="en-US" sz="3600" dirty="0"/>
          </a:p>
        </p:txBody>
      </p:sp>
      <p:sp>
        <p:nvSpPr>
          <p:cNvPr id="3" name="Shape 1"/>
          <p:cNvSpPr/>
          <p:nvPr/>
        </p:nvSpPr>
        <p:spPr>
          <a:xfrm>
            <a:off x="812800" y="1569690"/>
            <a:ext cx="3420517" cy="1153071"/>
          </a:xfrm>
          <a:prstGeom prst="roundRect">
            <a:avLst>
              <a:gd name="adj" fmla="val 13217"/>
            </a:avLst>
          </a:prstGeom>
          <a:solidFill>
            <a:srgbClr val="F1EADB"/>
          </a:solidFill>
          <a:ln/>
        </p:spPr>
      </p:sp>
      <p:sp>
        <p:nvSpPr>
          <p:cNvPr id="4" name="Text 2"/>
          <p:cNvSpPr/>
          <p:nvPr/>
        </p:nvSpPr>
        <p:spPr>
          <a:xfrm>
            <a:off x="1016000" y="1772890"/>
            <a:ext cx="3104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Needs a baseline</a:t>
            </a:r>
            <a:endParaRPr lang="en-US" sz="1600" dirty="0"/>
          </a:p>
        </p:txBody>
      </p:sp>
      <p:sp>
        <p:nvSpPr>
          <p:cNvPr id="5" name="Text 3"/>
          <p:cNvSpPr/>
          <p:nvPr/>
        </p:nvSpPr>
        <p:spPr>
          <a:xfrm>
            <a:off x="1016000" y="2092920"/>
            <a:ext cx="3104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Scores mean something only after weeks of normal data.</a:t>
            </a:r>
            <a:endParaRPr lang="en-US" sz="1200" dirty="0"/>
          </a:p>
        </p:txBody>
      </p:sp>
      <p:sp>
        <p:nvSpPr>
          <p:cNvPr id="6" name="Shape 4"/>
          <p:cNvSpPr/>
          <p:nvPr/>
        </p:nvSpPr>
        <p:spPr>
          <a:xfrm>
            <a:off x="4385717" y="1569690"/>
            <a:ext cx="3420517" cy="1153071"/>
          </a:xfrm>
          <a:prstGeom prst="roundRect">
            <a:avLst>
              <a:gd name="adj" fmla="val 13217"/>
            </a:avLst>
          </a:prstGeom>
          <a:solidFill>
            <a:srgbClr val="F1EADB"/>
          </a:solidFill>
          <a:ln/>
        </p:spPr>
      </p:sp>
      <p:sp>
        <p:nvSpPr>
          <p:cNvPr id="7" name="Text 5"/>
          <p:cNvSpPr/>
          <p:nvPr/>
        </p:nvSpPr>
        <p:spPr>
          <a:xfrm>
            <a:off x="4588917" y="1772890"/>
            <a:ext cx="3104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Models go stale</a:t>
            </a:r>
            <a:endParaRPr lang="en-US" sz="1600" dirty="0"/>
          </a:p>
        </p:txBody>
      </p:sp>
      <p:sp>
        <p:nvSpPr>
          <p:cNvPr id="8" name="Text 6"/>
          <p:cNvSpPr/>
          <p:nvPr/>
        </p:nvSpPr>
        <p:spPr>
          <a:xfrm>
            <a:off x="4588917" y="2092920"/>
            <a:ext cx="3104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Traffic changes, so retrain on a schedule and watch for drift.</a:t>
            </a:r>
            <a:endParaRPr lang="en-US" sz="1200" dirty="0"/>
          </a:p>
        </p:txBody>
      </p:sp>
      <p:sp>
        <p:nvSpPr>
          <p:cNvPr id="9" name="Shape 7"/>
          <p:cNvSpPr/>
          <p:nvPr/>
        </p:nvSpPr>
        <p:spPr>
          <a:xfrm>
            <a:off x="7958634" y="1569690"/>
            <a:ext cx="3420566" cy="1153071"/>
          </a:xfrm>
          <a:prstGeom prst="roundRect">
            <a:avLst>
              <a:gd name="adj" fmla="val 13217"/>
            </a:avLst>
          </a:prstGeom>
          <a:solidFill>
            <a:srgbClr val="F1EADB"/>
          </a:solidFill>
          <a:ln/>
        </p:spPr>
      </p:sp>
      <p:sp>
        <p:nvSpPr>
          <p:cNvPr id="10" name="Text 8"/>
          <p:cNvSpPr/>
          <p:nvPr/>
        </p:nvSpPr>
        <p:spPr>
          <a:xfrm>
            <a:off x="8161834" y="1772890"/>
            <a:ext cx="310459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False alarms</a:t>
            </a:r>
            <a:endParaRPr lang="en-US" sz="1600" dirty="0"/>
          </a:p>
        </p:txBody>
      </p:sp>
      <p:sp>
        <p:nvSpPr>
          <p:cNvPr id="11" name="Text 9"/>
          <p:cNvSpPr/>
          <p:nvPr/>
        </p:nvSpPr>
        <p:spPr>
          <a:xfrm>
            <a:off x="8161834" y="2092920"/>
            <a:ext cx="310459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Run observe-only first and measure the noise before paging anyone.</a:t>
            </a:r>
            <a:endParaRPr lang="en-US" sz="1200" dirty="0"/>
          </a:p>
        </p:txBody>
      </p:sp>
      <p:sp>
        <p:nvSpPr>
          <p:cNvPr id="12" name="Shape 10"/>
          <p:cNvSpPr/>
          <p:nvPr/>
        </p:nvSpPr>
        <p:spPr>
          <a:xfrm>
            <a:off x="812800" y="2875161"/>
            <a:ext cx="3420517" cy="1153071"/>
          </a:xfrm>
          <a:prstGeom prst="roundRect">
            <a:avLst>
              <a:gd name="adj" fmla="val 13217"/>
            </a:avLst>
          </a:prstGeom>
          <a:solidFill>
            <a:srgbClr val="F1EADB"/>
          </a:solidFill>
          <a:ln/>
        </p:spPr>
      </p:sp>
      <p:sp>
        <p:nvSpPr>
          <p:cNvPr id="13" name="Text 11"/>
          <p:cNvSpPr/>
          <p:nvPr/>
        </p:nvSpPr>
        <p:spPr>
          <a:xfrm>
            <a:off x="1016000" y="3078361"/>
            <a:ext cx="3104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Inputs can be gamed</a:t>
            </a:r>
            <a:endParaRPr lang="en-US" sz="1600" dirty="0"/>
          </a:p>
        </p:txBody>
      </p:sp>
      <p:sp>
        <p:nvSpPr>
          <p:cNvPr id="14" name="Text 12"/>
          <p:cNvSpPr/>
          <p:nvPr/>
        </p:nvSpPr>
        <p:spPr>
          <a:xfrm>
            <a:off x="1016000" y="3398391"/>
            <a:ext cx="3104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Traffic can be shaped on purpose, so keep scores advisory and combine several.</a:t>
            </a:r>
            <a:endParaRPr lang="en-US" sz="1200" dirty="0"/>
          </a:p>
        </p:txBody>
      </p:sp>
      <p:sp>
        <p:nvSpPr>
          <p:cNvPr id="15" name="Shape 13"/>
          <p:cNvSpPr/>
          <p:nvPr/>
        </p:nvSpPr>
        <p:spPr>
          <a:xfrm>
            <a:off x="4385717" y="2875161"/>
            <a:ext cx="3420517" cy="1153071"/>
          </a:xfrm>
          <a:prstGeom prst="roundRect">
            <a:avLst>
              <a:gd name="adj" fmla="val 13217"/>
            </a:avLst>
          </a:prstGeom>
          <a:solidFill>
            <a:srgbClr val="F1EADB"/>
          </a:solidFill>
          <a:ln/>
        </p:spPr>
      </p:sp>
      <p:sp>
        <p:nvSpPr>
          <p:cNvPr id="16" name="Text 14"/>
          <p:cNvSpPr/>
          <p:nvPr/>
        </p:nvSpPr>
        <p:spPr>
          <a:xfrm>
            <a:off x="4588917" y="3078361"/>
            <a:ext cx="31045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Rules still win</a:t>
            </a:r>
            <a:endParaRPr lang="en-US" sz="1600" dirty="0"/>
          </a:p>
        </p:txBody>
      </p:sp>
      <p:sp>
        <p:nvSpPr>
          <p:cNvPr id="17" name="Text 15"/>
          <p:cNvSpPr/>
          <p:nvPr/>
        </p:nvSpPr>
        <p:spPr>
          <a:xfrm>
            <a:off x="4588917" y="3398391"/>
            <a:ext cx="3104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Clear checks such as mandatory tags or the non-200 filter stay plain code.</a:t>
            </a:r>
            <a:endParaRPr lang="en-US" sz="1200" dirty="0"/>
          </a:p>
        </p:txBody>
      </p:sp>
      <p:sp>
        <p:nvSpPr>
          <p:cNvPr id="18" name="Shape 16"/>
          <p:cNvSpPr/>
          <p:nvPr/>
        </p:nvSpPr>
        <p:spPr>
          <a:xfrm>
            <a:off x="7958634" y="2875161"/>
            <a:ext cx="3420566" cy="1153071"/>
          </a:xfrm>
          <a:prstGeom prst="roundRect">
            <a:avLst>
              <a:gd name="adj" fmla="val 13217"/>
            </a:avLst>
          </a:prstGeom>
          <a:solidFill>
            <a:srgbClr val="F1EADB"/>
          </a:solidFill>
          <a:ln/>
        </p:spPr>
      </p:sp>
      <p:sp>
        <p:nvSpPr>
          <p:cNvPr id="19" name="Text 17"/>
          <p:cNvSpPr/>
          <p:nvPr/>
        </p:nvSpPr>
        <p:spPr>
          <a:xfrm>
            <a:off x="8161834" y="3078361"/>
            <a:ext cx="310459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Someone owns it</a:t>
            </a:r>
            <a:endParaRPr lang="en-US" sz="1600" dirty="0"/>
          </a:p>
        </p:txBody>
      </p:sp>
      <p:sp>
        <p:nvSpPr>
          <p:cNvPr id="20" name="Text 18"/>
          <p:cNvSpPr/>
          <p:nvPr/>
        </p:nvSpPr>
        <p:spPr>
          <a:xfrm>
            <a:off x="8161834" y="3398391"/>
            <a:ext cx="310459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Training data, thresholds and retraining need an owner, like any service.</a:t>
            </a:r>
            <a:endParaRPr lang="en-US" sz="1200" dirty="0"/>
          </a:p>
        </p:txBody>
      </p:sp>
      <p:sp>
        <p:nvSpPr>
          <p:cNvPr id="21" name="Shape 19"/>
          <p:cNvSpPr/>
          <p:nvPr/>
        </p:nvSpPr>
        <p:spPr>
          <a:xfrm>
            <a:off x="812800" y="4282232"/>
            <a:ext cx="10566400" cy="812800"/>
          </a:xfrm>
          <a:prstGeom prst="roundRect">
            <a:avLst>
              <a:gd name="adj" fmla="val 18750"/>
            </a:avLst>
          </a:prstGeom>
          <a:solidFill>
            <a:srgbClr val="FBEFC4"/>
          </a:solidFill>
          <a:ln/>
        </p:spPr>
      </p:sp>
      <p:pic>
        <p:nvPicPr>
          <p:cNvPr id="22" name="Image 0" descr="Warning">    </p:cNvPr>
          <p:cNvPicPr>
            <a:picLocks noChangeAspect="1"/>
          </p:cNvPicPr>
          <p:nvPr/>
        </p:nvPicPr>
        <p:blipFill>
          <a:blip r:embed="rId1"/>
          <a:srcRect l="0" r="0" t="0" b="0"/>
          <a:stretch/>
        </p:blipFill>
        <p:spPr>
          <a:xfrm>
            <a:off x="1066800" y="4485432"/>
            <a:ext cx="406400" cy="406400"/>
          </a:xfrm>
          <a:prstGeom prst="rect">
            <a:avLst/>
          </a:prstGeom>
        </p:spPr>
      </p:pic>
      <p:sp>
        <p:nvSpPr>
          <p:cNvPr id="23" name="Text 20"/>
          <p:cNvSpPr/>
          <p:nvPr/>
        </p:nvSpPr>
        <p:spPr>
          <a:xfrm>
            <a:off x="1625600" y="4556571"/>
            <a:ext cx="975360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13D"/>
                </a:solidFill>
                <a:latin typeface="DM Sans" pitchFamily="34" charset="0"/>
                <a:ea typeface="DM Sans" pitchFamily="34" charset="-122"/>
                <a:cs typeface="DM Sans" pitchFamily="34" charset="-120"/>
              </a:rPr>
              <a:t>Plan: observe-only first, a human approves every action, plain rules wherever rules are enough.</a:t>
            </a:r>
            <a:endParaRPr lang="en-US" sz="1600" dirty="0"/>
          </a:p>
        </p:txBody>
      </p:sp>
      <p:sp>
        <p:nvSpPr>
          <p:cNvPr id="24"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Tiny automatons for cloud infrastructures</a:t>
            </a:r>
            <a:endParaRPr lang="en-US" sz="1200" dirty="0"/>
          </a:p>
        </p:txBody>
      </p:sp>
      <p:sp>
        <p:nvSpPr>
          <p:cNvPr id="25" name="Text 22"/>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Other places tiny models fit</a:t>
            </a:r>
            <a:endParaRPr lang="en-US" sz="3600" dirty="0"/>
          </a:p>
        </p:txBody>
      </p:sp>
      <p:sp>
        <p:nvSpPr>
          <p:cNvPr id="3" name="Shape 1"/>
          <p:cNvSpPr/>
          <p:nvPr/>
        </p:nvSpPr>
        <p:spPr>
          <a:xfrm>
            <a:off x="812800" y="1569690"/>
            <a:ext cx="5207000" cy="1478161"/>
          </a:xfrm>
          <a:prstGeom prst="roundRect">
            <a:avLst>
              <a:gd name="adj" fmla="val 10310"/>
            </a:avLst>
          </a:prstGeom>
          <a:solidFill>
            <a:srgbClr val="BFE6E1"/>
          </a:solidFill>
          <a:ln/>
        </p:spPr>
      </p:sp>
      <p:pic>
        <p:nvPicPr>
          <p:cNvPr id="4" name="Image 0" descr="Chat">    </p:cNvPr>
          <p:cNvPicPr>
            <a:picLocks noChangeAspect="1"/>
          </p:cNvPicPr>
          <p:nvPr/>
        </p:nvPicPr>
        <p:blipFill>
          <a:blip r:embed="rId1"/>
          <a:srcRect l="0" r="0" t="0" b="0"/>
          <a:stretch/>
        </p:blipFill>
        <p:spPr>
          <a:xfrm>
            <a:off x="1016000" y="1772890"/>
            <a:ext cx="355600" cy="355600"/>
          </a:xfrm>
          <a:prstGeom prst="rect">
            <a:avLst/>
          </a:prstGeom>
        </p:spPr>
      </p:pic>
      <p:sp>
        <p:nvSpPr>
          <p:cNvPr id="5" name="Text 2"/>
          <p:cNvSpPr/>
          <p:nvPr/>
        </p:nvSpPr>
        <p:spPr>
          <a:xfrm>
            <a:off x="1498600" y="1828750"/>
            <a:ext cx="361134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Speech to text, no connection</a:t>
            </a:r>
            <a:endParaRPr lang="en-US" sz="1600" dirty="0"/>
          </a:p>
        </p:txBody>
      </p:sp>
      <p:sp>
        <p:nvSpPr>
          <p:cNvPr id="6" name="Text 3"/>
          <p:cNvSpPr/>
          <p:nvPr/>
        </p:nvSpPr>
        <p:spPr>
          <a:xfrm>
            <a:off x="1016000" y="2204690"/>
            <a:ext cx="494461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A small Whisper-style model transcribes on the device, as in the ESP32 example that inspired this. No signal is needed and audio never leaves the device.</a:t>
            </a:r>
            <a:endParaRPr lang="en-US" sz="1200" dirty="0"/>
          </a:p>
        </p:txBody>
      </p:sp>
      <p:sp>
        <p:nvSpPr>
          <p:cNvPr id="7" name="Shape 4"/>
          <p:cNvSpPr/>
          <p:nvPr/>
        </p:nvSpPr>
        <p:spPr>
          <a:xfrm>
            <a:off x="6172200" y="1569690"/>
            <a:ext cx="5207000" cy="1478161"/>
          </a:xfrm>
          <a:prstGeom prst="roundRect">
            <a:avLst>
              <a:gd name="adj" fmla="val 10310"/>
            </a:avLst>
          </a:prstGeom>
          <a:solidFill>
            <a:srgbClr val="BFE6E1"/>
          </a:solidFill>
          <a:ln/>
        </p:spPr>
      </p:sp>
      <p:pic>
        <p:nvPicPr>
          <p:cNvPr id="8" name="Image 1" descr="Lightning">    </p:cNvPr>
          <p:cNvPicPr>
            <a:picLocks noChangeAspect="1"/>
          </p:cNvPicPr>
          <p:nvPr/>
        </p:nvPicPr>
        <p:blipFill>
          <a:blip r:embed="rId2"/>
          <a:srcRect l="0" r="0" t="0" b="0"/>
          <a:stretch/>
        </p:blipFill>
        <p:spPr>
          <a:xfrm>
            <a:off x="6375400" y="1772890"/>
            <a:ext cx="355600" cy="355600"/>
          </a:xfrm>
          <a:prstGeom prst="rect">
            <a:avLst/>
          </a:prstGeom>
        </p:spPr>
      </p:pic>
      <p:sp>
        <p:nvSpPr>
          <p:cNvPr id="9" name="Text 5"/>
          <p:cNvSpPr/>
          <p:nvPr/>
        </p:nvSpPr>
        <p:spPr>
          <a:xfrm>
            <a:off x="6858000" y="1828750"/>
            <a:ext cx="365843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Text classifiers in a mobile app</a:t>
            </a:r>
            <a:endParaRPr lang="en-US" sz="1600" dirty="0"/>
          </a:p>
        </p:txBody>
      </p:sp>
      <p:sp>
        <p:nvSpPr>
          <p:cNvPr id="10" name="Text 6"/>
          <p:cNvSpPr/>
          <p:nvPr/>
        </p:nvSpPr>
        <p:spPr>
          <a:xfrm>
            <a:off x="6375400" y="2204690"/>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Sort, tag or route text on the phone in milliseconds. It works offline, keeps user text private and adds no per-request server bill.</a:t>
            </a:r>
            <a:endParaRPr lang="en-US" sz="1200" dirty="0"/>
          </a:p>
        </p:txBody>
      </p:sp>
      <p:sp>
        <p:nvSpPr>
          <p:cNvPr id="11" name="Shape 7"/>
          <p:cNvSpPr/>
          <p:nvPr/>
        </p:nvSpPr>
        <p:spPr>
          <a:xfrm>
            <a:off x="812800" y="3200251"/>
            <a:ext cx="5207000" cy="1478161"/>
          </a:xfrm>
          <a:prstGeom prst="roundRect">
            <a:avLst>
              <a:gd name="adj" fmla="val 10310"/>
            </a:avLst>
          </a:prstGeom>
          <a:solidFill>
            <a:srgbClr val="BFE6E1"/>
          </a:solidFill>
          <a:ln/>
        </p:spPr>
      </p:sp>
      <p:pic>
        <p:nvPicPr>
          <p:cNvPr id="12" name="Image 2" descr="Settings">    </p:cNvPr>
          <p:cNvPicPr>
            <a:picLocks noChangeAspect="1"/>
          </p:cNvPicPr>
          <p:nvPr/>
        </p:nvPicPr>
        <p:blipFill>
          <a:blip r:embed="rId3"/>
          <a:srcRect l="0" r="0" t="0" b="0"/>
          <a:stretch/>
        </p:blipFill>
        <p:spPr>
          <a:xfrm>
            <a:off x="1016000" y="3403451"/>
            <a:ext cx="355600" cy="355600"/>
          </a:xfrm>
          <a:prstGeom prst="rect">
            <a:avLst/>
          </a:prstGeom>
        </p:spPr>
      </p:pic>
      <p:sp>
        <p:nvSpPr>
          <p:cNvPr id="13" name="Text 8"/>
          <p:cNvSpPr/>
          <p:nvPr/>
        </p:nvSpPr>
        <p:spPr>
          <a:xfrm>
            <a:off x="1498600" y="3459311"/>
            <a:ext cx="220432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Industrial systems</a:t>
            </a:r>
            <a:endParaRPr lang="en-US" sz="1600" dirty="0"/>
          </a:p>
        </p:txBody>
      </p:sp>
      <p:sp>
        <p:nvSpPr>
          <p:cNvPr id="14" name="Text 9"/>
          <p:cNvSpPr/>
          <p:nvPr/>
        </p:nvSpPr>
        <p:spPr>
          <a:xfrm>
            <a:off x="1016000" y="3835251"/>
            <a:ext cx="494461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Spot sensor anomalies or recognize a few spoken commands next to the machine. Latency is predictable and it runs on isolated networks.</a:t>
            </a:r>
            <a:endParaRPr lang="en-US" sz="1200" dirty="0"/>
          </a:p>
        </p:txBody>
      </p:sp>
      <p:sp>
        <p:nvSpPr>
          <p:cNvPr id="15" name="Shape 10"/>
          <p:cNvSpPr/>
          <p:nvPr/>
        </p:nvSpPr>
        <p:spPr>
          <a:xfrm>
            <a:off x="6172200" y="3200251"/>
            <a:ext cx="5207000" cy="1478161"/>
          </a:xfrm>
          <a:prstGeom prst="roundRect">
            <a:avLst>
              <a:gd name="adj" fmla="val 10310"/>
            </a:avLst>
          </a:prstGeom>
          <a:solidFill>
            <a:srgbClr val="BFE6E1"/>
          </a:solidFill>
          <a:ln/>
        </p:spPr>
      </p:sp>
      <p:pic>
        <p:nvPicPr>
          <p:cNvPr id="16" name="Image 3" descr="Users">    </p:cNvPr>
          <p:cNvPicPr>
            <a:picLocks noChangeAspect="1"/>
          </p:cNvPicPr>
          <p:nvPr/>
        </p:nvPicPr>
        <p:blipFill>
          <a:blip r:embed="rId4"/>
          <a:srcRect l="0" r="0" t="0" b="0"/>
          <a:stretch/>
        </p:blipFill>
        <p:spPr>
          <a:xfrm>
            <a:off x="6375400" y="3403451"/>
            <a:ext cx="355600" cy="355600"/>
          </a:xfrm>
          <a:prstGeom prst="rect">
            <a:avLst/>
          </a:prstGeom>
        </p:spPr>
      </p:pic>
      <p:sp>
        <p:nvSpPr>
          <p:cNvPr id="17" name="Text 11"/>
          <p:cNvSpPr/>
          <p:nvPr/>
        </p:nvSpPr>
        <p:spPr>
          <a:xfrm>
            <a:off x="6858000" y="3459311"/>
            <a:ext cx="32832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Big company environments</a:t>
            </a:r>
            <a:endParaRPr lang="en-US" sz="1600" dirty="0"/>
          </a:p>
        </p:txBody>
      </p:sp>
      <p:sp>
        <p:nvSpPr>
          <p:cNvPr id="18" name="Text 12"/>
          <p:cNvSpPr/>
          <p:nvPr/>
        </p:nvSpPr>
        <p:spPr>
          <a:xfrm>
            <a:off x="6375400" y="3835251"/>
            <a:ext cx="494461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Classify tickets, mail or documents inside the network. Nothing goes to an outside vendor, so security and compliance reviews are easier.</a:t>
            </a:r>
            <a:endParaRPr lang="en-US" sz="1200" dirty="0"/>
          </a:p>
        </p:txBody>
      </p:sp>
      <p:sp>
        <p:nvSpPr>
          <p:cNvPr id="19" name="Shape 13"/>
          <p:cNvSpPr/>
          <p:nvPr/>
        </p:nvSpPr>
        <p:spPr>
          <a:xfrm>
            <a:off x="812800" y="4932412"/>
            <a:ext cx="10566400" cy="711200"/>
          </a:xfrm>
          <a:prstGeom prst="roundRect">
            <a:avLst>
              <a:gd name="adj" fmla="val 21429"/>
            </a:avLst>
          </a:prstGeom>
          <a:solidFill>
            <a:srgbClr val="F5C534"/>
          </a:solidFill>
          <a:ln/>
        </p:spPr>
      </p:sp>
      <p:pic>
        <p:nvPicPr>
          <p:cNvPr id="20" name="Image 4" descr="Check">    </p:cNvPr>
          <p:cNvPicPr>
            <a:picLocks noChangeAspect="1"/>
          </p:cNvPicPr>
          <p:nvPr/>
        </p:nvPicPr>
        <p:blipFill>
          <a:blip r:embed="rId5"/>
          <a:srcRect l="0" r="0" t="0" b="0"/>
          <a:stretch/>
        </p:blipFill>
        <p:spPr>
          <a:xfrm>
            <a:off x="1066800" y="5110212"/>
            <a:ext cx="355600" cy="355600"/>
          </a:xfrm>
          <a:prstGeom prst="rect">
            <a:avLst/>
          </a:prstGeom>
        </p:spPr>
      </p:pic>
      <p:sp>
        <p:nvSpPr>
          <p:cNvPr id="21" name="Text 14"/>
          <p:cNvSpPr/>
          <p:nvPr/>
        </p:nvSpPr>
        <p:spPr>
          <a:xfrm>
            <a:off x="1574800" y="5181352"/>
            <a:ext cx="919876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DM Sans" pitchFamily="34" charset="0"/>
                <a:ea typeface="DM Sans" pitchFamily="34" charset="-122"/>
                <a:cs typeface="DM Sans" pitchFamily="34" charset="-120"/>
              </a:rPr>
              <a:t>Common thread: one narrow job, small enough to run where the data is. Offline, private, fast and cheap.</a:t>
            </a:r>
            <a:endParaRPr lang="en-US" sz="1200" dirty="0"/>
          </a:p>
        </p:txBody>
      </p:sp>
      <p:sp>
        <p:nvSpPr>
          <p:cNvPr id="22"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Tiny automatons for cloud infrastructures</a:t>
            </a:r>
            <a:endParaRPr lang="en-US" sz="1200" dirty="0"/>
          </a:p>
        </p:txBody>
      </p:sp>
      <p:sp>
        <p:nvSpPr>
          <p:cNvPr id="23" name="Text 16"/>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WAF rate limits that follow traffic</a:t>
            </a:r>
            <a:endParaRPr lang="en-US" sz="3600" dirty="0"/>
          </a:p>
        </p:txBody>
      </p:sp>
      <p:sp>
        <p:nvSpPr>
          <p:cNvPr id="3" name="Text 1"/>
          <p:cNvSpPr/>
          <p:nvPr/>
        </p:nvSpPr>
        <p:spPr>
          <a:xfrm>
            <a:off x="812800" y="1569690"/>
            <a:ext cx="10566400" cy="640060"/>
          </a:xfrm>
          <a:prstGeom prst="roundRect">
            <a:avLst>
              <a:gd name="adj" fmla="val 23810"/>
            </a:avLst>
          </a:prstGeom>
          <a:solidFill>
            <a:srgbClr val="E1EAF7"/>
          </a:solidFill>
          <a:ln/>
        </p:spPr>
        <p:txBody>
          <a:bodyPr wrap="square" lIns="209364" tIns="133164" rIns="0" bIns="107764" rtlCol="0" anchor="t">
            <a:normAutofit/>
          </a:bodyPr>
          <a:lstStyle/>
          <a:p>
            <a:pPr algn="l" indent="0" marL="0">
              <a:lnSpc>
                <a:spcPts val="2240"/>
              </a:lnSpc>
              <a:buNone/>
            </a:pPr>
            <a:r>
              <a:rPr lang="en-US" sz="1600" b="1" dirty="0">
                <a:solidFill>
                  <a:srgbClr val="14213D"/>
                </a:solidFill>
                <a:latin typeface="DM Sans" pitchFamily="34" charset="0"/>
                <a:ea typeface="DM Sans" pitchFamily="34" charset="-122"/>
                <a:cs typeface="DM Sans" pitchFamily="34" charset="-120"/>
              </a:rPr>
              <a:t>Today:</a:t>
            </a:r>
            <a:r>
              <a:rPr lang="en-US" sz="1600" dirty="0">
                <a:solidFill>
                  <a:srgbClr val="14213D"/>
                </a:solidFill>
                <a:latin typeface="DM Sans" pitchFamily="34" charset="0"/>
                <a:ea typeface="DM Sans" pitchFamily="34" charset="-122"/>
                <a:cs typeface="DM Sans" pitchFamily="34" charset="-120"/>
              </a:rPr>
              <a:t> fixed Terraform variables for paths and maximum connections.</a:t>
            </a:r>
            <a:endParaRPr lang="en-US" sz="1600" dirty="0"/>
          </a:p>
        </p:txBody>
      </p:sp>
      <p:sp>
        <p:nvSpPr>
          <p:cNvPr id="4" name="Shape 2"/>
          <p:cNvSpPr/>
          <p:nvPr/>
        </p:nvSpPr>
        <p:spPr>
          <a:xfrm>
            <a:off x="812800" y="2463750"/>
            <a:ext cx="2222500" cy="1026071"/>
          </a:xfrm>
          <a:prstGeom prst="roundRect">
            <a:avLst>
              <a:gd name="adj" fmla="val 12377"/>
            </a:avLst>
          </a:prstGeom>
          <a:solidFill>
            <a:srgbClr val="BFE6E1"/>
          </a:solidFill>
          <a:ln/>
        </p:spPr>
      </p:sp>
      <p:sp>
        <p:nvSpPr>
          <p:cNvPr id="5" name="Text 3"/>
          <p:cNvSpPr/>
          <p:nvPr/>
        </p:nvSpPr>
        <p:spPr>
          <a:xfrm>
            <a:off x="965200" y="2616150"/>
            <a:ext cx="197523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WAF logs</a:t>
            </a:r>
            <a:endParaRPr lang="en-US" sz="1600" dirty="0"/>
          </a:p>
        </p:txBody>
      </p:sp>
      <p:sp>
        <p:nvSpPr>
          <p:cNvPr id="6" name="Text 4"/>
          <p:cNvSpPr/>
          <p:nvPr/>
        </p:nvSpPr>
        <p:spPr>
          <a:xfrm>
            <a:off x="965200" y="2910780"/>
            <a:ext cx="19752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Need to flow to S3</a:t>
            </a:r>
            <a:endParaRPr lang="en-US" sz="1200" dirty="0"/>
          </a:p>
        </p:txBody>
      </p:sp>
      <p:pic>
        <p:nvPicPr>
          <p:cNvPr id="7" name="Image 0" descr="arrow-right">    </p:cNvPr>
          <p:cNvPicPr>
            <a:picLocks noChangeAspect="1"/>
          </p:cNvPicPr>
          <p:nvPr/>
        </p:nvPicPr>
        <p:blipFill>
          <a:blip r:embed="rId1"/>
          <a:srcRect l="0" r="0" t="0" b="0"/>
          <a:stretch/>
        </p:blipFill>
        <p:spPr>
          <a:xfrm>
            <a:off x="3136900" y="2849761"/>
            <a:ext cx="355600" cy="254000"/>
          </a:xfrm>
          <a:prstGeom prst="rect">
            <a:avLst/>
          </a:prstGeom>
        </p:spPr>
      </p:pic>
      <p:sp>
        <p:nvSpPr>
          <p:cNvPr id="8" name="Shape 5"/>
          <p:cNvSpPr/>
          <p:nvPr/>
        </p:nvSpPr>
        <p:spPr>
          <a:xfrm>
            <a:off x="3594100" y="2463750"/>
            <a:ext cx="2222500" cy="1026071"/>
          </a:xfrm>
          <a:prstGeom prst="roundRect">
            <a:avLst>
              <a:gd name="adj" fmla="val 12377"/>
            </a:avLst>
          </a:prstGeom>
          <a:solidFill>
            <a:srgbClr val="BFE6E1"/>
          </a:solidFill>
          <a:ln/>
        </p:spPr>
      </p:sp>
      <p:sp>
        <p:nvSpPr>
          <p:cNvPr id="9" name="Text 6"/>
          <p:cNvSpPr/>
          <p:nvPr/>
        </p:nvSpPr>
        <p:spPr>
          <a:xfrm>
            <a:off x="3746500" y="2616150"/>
            <a:ext cx="197523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S3 and Athena</a:t>
            </a:r>
            <a:endParaRPr lang="en-US" sz="1600" dirty="0"/>
          </a:p>
        </p:txBody>
      </p:sp>
      <p:sp>
        <p:nvSpPr>
          <p:cNvPr id="10" name="Text 7"/>
          <p:cNvSpPr/>
          <p:nvPr/>
        </p:nvSpPr>
        <p:spPr>
          <a:xfrm>
            <a:off x="3746500" y="2910780"/>
            <a:ext cx="197523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Query requests per IP and per rule.</a:t>
            </a:r>
            <a:endParaRPr lang="en-US" sz="1200" dirty="0"/>
          </a:p>
        </p:txBody>
      </p:sp>
      <p:pic>
        <p:nvPicPr>
          <p:cNvPr id="11" name="Image 1" descr="arrow-right">    </p:cNvPr>
          <p:cNvPicPr>
            <a:picLocks noChangeAspect="1"/>
          </p:cNvPicPr>
          <p:nvPr/>
        </p:nvPicPr>
        <p:blipFill>
          <a:blip r:embed="rId2"/>
          <a:srcRect l="0" r="0" t="0" b="0"/>
          <a:stretch/>
        </p:blipFill>
        <p:spPr>
          <a:xfrm>
            <a:off x="5918200" y="2849761"/>
            <a:ext cx="355600" cy="254000"/>
          </a:xfrm>
          <a:prstGeom prst="rect">
            <a:avLst/>
          </a:prstGeom>
        </p:spPr>
      </p:pic>
      <p:sp>
        <p:nvSpPr>
          <p:cNvPr id="12" name="Shape 8"/>
          <p:cNvSpPr/>
          <p:nvPr/>
        </p:nvSpPr>
        <p:spPr>
          <a:xfrm>
            <a:off x="6375400" y="2463750"/>
            <a:ext cx="2222500" cy="1026071"/>
          </a:xfrm>
          <a:prstGeom prst="roundRect">
            <a:avLst>
              <a:gd name="adj" fmla="val 12377"/>
            </a:avLst>
          </a:prstGeom>
          <a:solidFill>
            <a:srgbClr val="F5C534"/>
          </a:solidFill>
          <a:ln/>
        </p:spPr>
      </p:sp>
      <p:sp>
        <p:nvSpPr>
          <p:cNvPr id="13" name="Text 9"/>
          <p:cNvSpPr/>
          <p:nvPr/>
        </p:nvSpPr>
        <p:spPr>
          <a:xfrm>
            <a:off x="6527800" y="2616150"/>
            <a:ext cx="197523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Limit advisor</a:t>
            </a:r>
            <a:endParaRPr lang="en-US" sz="1600" dirty="0"/>
          </a:p>
        </p:txBody>
      </p:sp>
      <p:sp>
        <p:nvSpPr>
          <p:cNvPr id="14" name="Text 10"/>
          <p:cNvSpPr/>
          <p:nvPr/>
        </p:nvSpPr>
        <p:spPr>
          <a:xfrm>
            <a:off x="6527800" y="2910780"/>
            <a:ext cx="197523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New: a daily job suggests a limit for each rule.</a:t>
            </a:r>
            <a:endParaRPr lang="en-US" sz="1200" dirty="0"/>
          </a:p>
        </p:txBody>
      </p:sp>
      <p:pic>
        <p:nvPicPr>
          <p:cNvPr id="15" name="Image 2" descr="arrow-right">    </p:cNvPr>
          <p:cNvPicPr>
            <a:picLocks noChangeAspect="1"/>
          </p:cNvPicPr>
          <p:nvPr/>
        </p:nvPicPr>
        <p:blipFill>
          <a:blip r:embed="rId3"/>
          <a:srcRect l="0" r="0" t="0" b="0"/>
          <a:stretch/>
        </p:blipFill>
        <p:spPr>
          <a:xfrm>
            <a:off x="8699500" y="2849761"/>
            <a:ext cx="355600" cy="254000"/>
          </a:xfrm>
          <a:prstGeom prst="rect">
            <a:avLst/>
          </a:prstGeom>
        </p:spPr>
      </p:pic>
      <p:sp>
        <p:nvSpPr>
          <p:cNvPr id="16" name="Shape 11"/>
          <p:cNvSpPr/>
          <p:nvPr/>
        </p:nvSpPr>
        <p:spPr>
          <a:xfrm>
            <a:off x="9156700" y="2463750"/>
            <a:ext cx="2222500" cy="1026071"/>
          </a:xfrm>
          <a:prstGeom prst="roundRect">
            <a:avLst>
              <a:gd name="adj" fmla="val 12377"/>
            </a:avLst>
          </a:prstGeom>
          <a:solidFill>
            <a:srgbClr val="F1EADB"/>
          </a:solidFill>
          <a:ln/>
        </p:spPr>
      </p:sp>
      <p:sp>
        <p:nvSpPr>
          <p:cNvPr id="17" name="Text 12"/>
          <p:cNvSpPr/>
          <p:nvPr/>
        </p:nvSpPr>
        <p:spPr>
          <a:xfrm>
            <a:off x="9309100" y="2616150"/>
            <a:ext cx="197523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Pull request</a:t>
            </a:r>
            <a:endParaRPr lang="en-US" sz="1600" dirty="0"/>
          </a:p>
        </p:txBody>
      </p:sp>
      <p:sp>
        <p:nvSpPr>
          <p:cNvPr id="18" name="Text 13"/>
          <p:cNvSpPr/>
          <p:nvPr/>
        </p:nvSpPr>
        <p:spPr>
          <a:xfrm>
            <a:off x="9309100" y="2910780"/>
            <a:ext cx="197523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A person reviews it and deploys with Terraform.</a:t>
            </a:r>
            <a:endParaRPr lang="en-US" sz="1200" dirty="0"/>
          </a:p>
        </p:txBody>
      </p:sp>
      <p:sp>
        <p:nvSpPr>
          <p:cNvPr id="19" name="Shape 14"/>
          <p:cNvSpPr/>
          <p:nvPr/>
        </p:nvSpPr>
        <p:spPr>
          <a:xfrm>
            <a:off x="812800" y="3743821"/>
            <a:ext cx="5207000" cy="1340991"/>
          </a:xfrm>
          <a:prstGeom prst="roundRect">
            <a:avLst>
              <a:gd name="adj" fmla="val 11365"/>
            </a:avLst>
          </a:prstGeom>
          <a:solidFill>
            <a:srgbClr val="BFE6E1"/>
          </a:solidFill>
          <a:ln/>
        </p:spPr>
      </p:sp>
      <p:sp>
        <p:nvSpPr>
          <p:cNvPr id="20" name="Text 15"/>
          <p:cNvSpPr/>
          <p:nvPr/>
        </p:nvSpPr>
        <p:spPr>
          <a:xfrm>
            <a:off x="1016000" y="3947021"/>
            <a:ext cx="49446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Method</a:t>
            </a:r>
            <a:endParaRPr lang="en-US" sz="1600" dirty="0"/>
          </a:p>
        </p:txBody>
      </p:sp>
      <p:sp>
        <p:nvSpPr>
          <p:cNvPr id="21" name="Text 16"/>
          <p:cNvSpPr/>
          <p:nvPr/>
        </p:nvSpPr>
        <p:spPr>
          <a:xfrm>
            <a:off x="1016000" y="4241651"/>
            <a:ext cx="494461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Learn normal per-IP request rates for each rule and propose a limit with headroom. Mostly statistics; a tiny model only helps tell bots from busy shoppers.</a:t>
            </a:r>
            <a:endParaRPr lang="en-US" sz="1200" dirty="0"/>
          </a:p>
        </p:txBody>
      </p:sp>
      <p:sp>
        <p:nvSpPr>
          <p:cNvPr id="22" name="Shape 17"/>
          <p:cNvSpPr/>
          <p:nvPr/>
        </p:nvSpPr>
        <p:spPr>
          <a:xfrm>
            <a:off x="6172200" y="3743821"/>
            <a:ext cx="5207000" cy="1340991"/>
          </a:xfrm>
          <a:prstGeom prst="roundRect">
            <a:avLst>
              <a:gd name="adj" fmla="val 11365"/>
            </a:avLst>
          </a:prstGeom>
          <a:solidFill>
            <a:srgbClr val="F1EADB"/>
          </a:solidFill>
          <a:ln/>
        </p:spPr>
      </p:sp>
      <p:sp>
        <p:nvSpPr>
          <p:cNvPr id="23" name="Text 18"/>
          <p:cNvSpPr/>
          <p:nvPr/>
        </p:nvSpPr>
        <p:spPr>
          <a:xfrm>
            <a:off x="6375400" y="3947021"/>
            <a:ext cx="49446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Guardrails</a:t>
            </a:r>
            <a:endParaRPr lang="en-US" sz="1600" dirty="0"/>
          </a:p>
        </p:txBody>
      </p:sp>
      <p:sp>
        <p:nvSpPr>
          <p:cNvPr id="24" name="Text 19"/>
          <p:cNvSpPr/>
          <p:nvPr/>
        </p:nvSpPr>
        <p:spPr>
          <a:xfrm>
            <a:off x="6375400" y="4241651"/>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DM Sans" pitchFamily="34" charset="0"/>
                <a:ea typeface="DM Sans" pitchFamily="34" charset="-122"/>
                <a:cs typeface="DM Sans" pitchFamily="34" charset="-120"/>
              </a:rPr>
              <a:t>Propose only, never apply. Cap how far one change can move a limit. Review each change like any other pull request.</a:t>
            </a:r>
            <a:endParaRPr lang="en-US" sz="1200" dirty="0"/>
          </a:p>
        </p:txBody>
      </p:sp>
      <p:sp>
        <p:nvSpPr>
          <p:cNvPr id="25"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Tiny automatons for cloud infrastructures</a:t>
            </a:r>
            <a:endParaRPr lang="en-US" sz="1200" dirty="0"/>
          </a:p>
        </p:txBody>
      </p:sp>
      <p:sp>
        <p:nvSpPr>
          <p:cNvPr id="26" name="Text 21"/>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15 / 16</a:t>
            </a:r>
            <a:endParaRPr lang="en-US" sz="1200" dirty="0"/>
          </a:p>
        </p:txBody>
      </p:sp>
    </p:spTree>
  </p:cSld>
  <p:clrMapOvr>
    <a:masterClrMapping/>
  </p:clrMapOvr>
</p:sld>
</file>

<file path=ppt/theme/theme1.xml><?xml version="1.0" encoding="utf-8"?>
<a:theme xmlns:a="http://schemas.openxmlformats.org/drawingml/2006/main" name="Tiny automatons for AWS">
  <a:themeElements>
    <a:clrScheme name="Tiny automatons for AWS">
      <a:dk1>
        <a:srgbClr val="14213D"/>
      </a:dk1>
      <a:lt1>
        <a:srgbClr val="FBF8F1"/>
      </a:lt1>
      <a:dk2>
        <a:srgbClr val="4E576A"/>
      </a:dk2>
      <a:lt2>
        <a:srgbClr val="E4E3DF"/>
      </a:lt2>
      <a:accent1>
        <a:srgbClr val="BFE6E1"/>
      </a:accent1>
      <a:accent2>
        <a:srgbClr val="F5C534"/>
      </a:accent2>
      <a:accent3>
        <a:srgbClr val="FBEFC4"/>
      </a:accent3>
      <a:accent4>
        <a:srgbClr val="5B6472"/>
      </a:accent4>
      <a:accent5>
        <a:srgbClr val="E1EAF7"/>
      </a:accent5>
      <a:accent6>
        <a:srgbClr val="3C4659"/>
      </a:accent6>
      <a:hlink>
        <a:srgbClr val="0563C1"/>
      </a:hlink>
      <a:folHlink>
        <a:srgbClr val="954F72"/>
      </a:folHlink>
    </a:clrScheme>
    <a:fontScheme name="Tiny automatons for AW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Tiny automatons for AWS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2026-10-27T15:43:52Z</dcterms:created>
  <dcterms:modified xsi:type="dcterms:W3CDTF">2026-10-27T15:43:52Z</dcterms:modified>
</cp:coreProperties>
</file>